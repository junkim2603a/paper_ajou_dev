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6096" y="841248"/>
            <a:ext cx="3749039" cy="1874519"/>
          </a:xfrm>
          <a:prstGeom prst="roundRect">
            <a:avLst/>
          </a:prstGeom>
          <a:solidFill>
            <a:srgbClr val="0F6C7A"/>
          </a:solidFill>
          <a:ln>
            <a:solidFill>
              <a:srgbClr val="0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8431" y="2971800"/>
            <a:ext cx="3273552" cy="2331720"/>
          </a:xfrm>
          <a:prstGeom prst="roundRect">
            <a:avLst/>
          </a:prstGeom>
          <a:solidFill>
            <a:srgbClr val="FAE8D5"/>
          </a:solidFill>
          <a:ln>
            <a:solidFill>
              <a:srgbClr val="FAE8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566928"/>
            <a:ext cx="141732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0350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Paper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334A"/>
                </a:solidFill>
                <a:latin typeface="Malgun Gothic"/>
              </a:rPr>
              <a:t>HBr-Ar 와 HBr-Cl2 플라즈마 화학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70078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A Comparative Study of HBr-Ar and HBr-Cl2 Plasma Chemistries for Dry Etch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468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Malgun Gothic"/>
              </a:rPr>
              <a:t>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743200"/>
            <a:ext cx="6035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algun Gothic"/>
              </a:rPr>
              <a:t>Ar 혼합은 이온 에너지 플럭스를 크게 흔들고,
Cl2 혼합은 Br/Cl 화학 반응 경로의 균형을 바꾼다.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074920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발표 포인트: 같은 ICP 조건에서도 첨가 가스 종류에 따라 식각 메커니즘의 지배 항이 달라진다.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07899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Why This Paper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572768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같은 HBr 기반 공정이라도
Ar 는 물리적 보조 효과,
Cl2 는 화학 종 조성을 주로 바꾼다.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46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algun Gothic"/>
              </a:rPr>
              <a:t>논문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21024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334A"/>
                </a:solidFill>
                <a:latin typeface="Malgun Gothic"/>
              </a:rPr>
              <a:t>Alexander Efremov 외
Plasma Chem. Plasma Process.
2011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7589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Source: Efremov et al., Plasma Chemistry and Plasma Processing 31, 259-271 (2011)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41732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Paper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334A"/>
                </a:solidFill>
                <a:latin typeface="Malgun Gothic"/>
              </a:rPr>
              <a:t>1. 연구 배경과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70078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왜 HBr/Ar 와 HBr/Cl2 를 따로 봐야 하는가?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4864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49834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900">
                <a:solidFill>
                  <a:srgbClr val="1F2937"/>
                </a:solidFill>
                <a:latin typeface="Malgun Gothic"/>
              </a:rPr>
              <a:t>HBr 기반 플라즈마는 InP/InGaAs, Si dry etch, PR 선택비 확보에 널리 사용된다.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900">
                <a:solidFill>
                  <a:srgbClr val="1F2937"/>
                </a:solidFill>
                <a:latin typeface="Malgun Gothic"/>
              </a:rPr>
              <a:t>기존 연구는 주로 etch rate 자체를 다뤘고, plasma parameter 와 active species 가 식각 메커니즘을 어떻게 바꾸는지는 덜 설명됐다.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900">
                <a:solidFill>
                  <a:srgbClr val="1F2937"/>
                </a:solidFill>
                <a:latin typeface="Malgun Gothic"/>
              </a:rPr>
              <a:t>이 논문은 같은 ICP 조건에서 HBr/Ar 와 HBr/Cl2 를 비교해, 어떤 혼합 가스가 물리적 식각과 화학적 식각을 더 크게 좌우하는지 묻는다.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983480" cy="1965960"/>
          </a:xfrm>
          <a:prstGeom prst="roundRect">
            <a:avLst/>
          </a:prstGeom>
          <a:solidFill>
            <a:srgbClr val="0F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4884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이 논문의 핵심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514600"/>
            <a:ext cx="4206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algun Gothic"/>
              </a:rPr>
              <a:t>첨가 가스를 Ar 로 바꿀 때와 Cl2 로 바꿀 때,
어느 쪽이 plasma composition 과 dry etch regime 을 더 크게 바꾸는가?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069080"/>
            <a:ext cx="4983480" cy="1920240"/>
          </a:xfrm>
          <a:prstGeom prst="roundRect">
            <a:avLst/>
          </a:prstGeom>
          <a:solidFill>
            <a:srgbClr val="FAE8D5"/>
          </a:solidFill>
          <a:ln>
            <a:solidFill>
              <a:srgbClr val="F3C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437083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algun Gothic"/>
              </a:rPr>
              <a:t>발표용 한 줄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681728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8334A"/>
                </a:solidFill>
                <a:latin typeface="Malgun Gothic"/>
              </a:rPr>
              <a:t>같은 HBr 희석이라도
Ar 는 이온이 얼마나 세게 때리는지,
Cl2 는 어떤 라디칼이 반응하는지를 바꾼다.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7589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Source: Efremov et al., Plasma Chemistry and Plasma Processing 31, 259-271 (2011)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41732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Paper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334A"/>
                </a:solidFill>
                <a:latin typeface="Malgun Gothic"/>
              </a:rPr>
              <a:t>2. 실험과 모델링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70078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Langmuir probe + 0D global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901952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Malgun Gothic"/>
              </a:rPr>
              <a:t>총 유량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414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334A"/>
                </a:solidFill>
                <a:latin typeface="Aptos"/>
              </a:rPr>
              <a:t>40 sccm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901952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148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Malgun Gothic"/>
              </a:rPr>
              <a:t>압력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4414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334A"/>
                </a:solidFill>
                <a:latin typeface="Aptos"/>
              </a:rPr>
              <a:t>6 mTorr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901952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148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Malgun Gothic"/>
              </a:rPr>
              <a:t>입력 전력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4414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334A"/>
                </a:solidFill>
                <a:latin typeface="Aptos"/>
              </a:rPr>
              <a:t>700 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9952" y="1901952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2832" y="2148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Malgun Gothic"/>
              </a:rPr>
              <a:t>바이어스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24414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334A"/>
                </a:solidFill>
                <a:latin typeface="Aptos"/>
              </a:rPr>
              <a:t>300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4015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algun Gothic"/>
              </a:rPr>
              <a:t>비교 변수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675887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algun Gothic"/>
              </a:rPr>
              <a:t>HBr/Ar 또는 HBr/Cl2 혼합비를 0-100%까지 변화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52628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16552" y="452628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8431" y="452628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73659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6C7A"/>
                </a:solidFill>
                <a:latin typeface="Malgun Gothic"/>
              </a:rPr>
              <a:t>진단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01091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334A"/>
                </a:solidFill>
                <a:latin typeface="Malgun Gothic"/>
              </a:rPr>
              <a:t>Te, Ji, n+ 측정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73659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6C7A"/>
                </a:solidFill>
                <a:latin typeface="Malgun Gothic"/>
              </a:rPr>
              <a:t>모델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01091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334A"/>
                </a:solidFill>
                <a:latin typeface="Malgun Gothic"/>
              </a:rPr>
              <a:t>neutral / ion species 해석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73659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6C7A"/>
                </a:solidFill>
                <a:latin typeface="Malgun Gothic"/>
              </a:rPr>
              <a:t>출력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97433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334A"/>
                </a:solidFill>
                <a:latin typeface="Malgun Gothic"/>
              </a:rPr>
              <a:t>식각 지배 메커니즘 추정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8224" y="4956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D97706"/>
                </a:solidFill>
                <a:latin typeface="Malgun Gothi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4956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D97706"/>
                </a:solidFill>
                <a:latin typeface="Malgun Gothic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7589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Source: Efremov et al., Plasma Chemistry and Plasma Processing 31, 259-271 (2011)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41732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Paper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334A"/>
                </a:solidFill>
                <a:latin typeface="Malgun Gothic"/>
              </a:rPr>
              <a:t>3. 결과 A: Plasma parameter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70078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Ar 첨가는 이온 구동 특성을 훨씬 크게 바꾼다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74519"/>
            <a:ext cx="498348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50">
                <a:solidFill>
                  <a:srgbClr val="1F2937"/>
                </a:solidFill>
                <a:latin typeface="Malgun Gothic"/>
              </a:rPr>
              <a:t>전자온도는 두 계 모두 완만하게 증가한다. HBr/Ar: 3.15→3.67 eV, HBr/Cl2: 3.15→3.36 eV.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50">
                <a:solidFill>
                  <a:srgbClr val="1F2937"/>
                </a:solidFill>
                <a:latin typeface="Malgun Gothic"/>
              </a:rPr>
              <a:t>하지만 ion current density 증가는 Ar 첨가에서 훨씬 가파르다. Ji: 1.63→15.90 mA/cm2 vs 1.63→2.80 mA/cm2.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50">
                <a:solidFill>
                  <a:srgbClr val="1F2937"/>
                </a:solidFill>
                <a:latin typeface="Malgun Gothic"/>
              </a:rPr>
              <a:t>Ar-rich plasma 는 n+ 와 ne 를 크게 올리고, Cl2-rich plasma 는 electronegativity 때문에 상대적으로 낮게 유지된다.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Malgun Gothic"/>
              </a:rPr>
              <a:t>원문 Figure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0233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Malgun Gothic"/>
              </a:rPr>
              <a:t>원문 Figure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4242816"/>
            <a:ext cx="491947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79392"/>
            <a:ext cx="4846320" cy="184708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89904" y="4242816"/>
            <a:ext cx="514807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279392"/>
            <a:ext cx="5074920" cy="18470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7589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Source: Efremov et al., Plasma Chemistry and Plasma Processing 31, 259-271 (2011)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41732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Paper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334A"/>
                </a:solidFill>
                <a:latin typeface="Malgun Gothic"/>
              </a:rPr>
              <a:t>4. 결과 B: Neutral species 조성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70078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Cl2 첨가는 반응 경로 자체를 다시 짠다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74519"/>
            <a:ext cx="491947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50">
                <a:solidFill>
                  <a:srgbClr val="1F2937"/>
                </a:solidFill>
                <a:latin typeface="Malgun Gothic"/>
              </a:rPr>
              <a:t>HBr/Ar 에서는 Br 밀도가 감소해도 50% 이상 Ar 구간까지 Br 가 여전히 우세하다.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50">
                <a:solidFill>
                  <a:srgbClr val="1F2937"/>
                </a:solidFill>
                <a:latin typeface="Malgun Gothic"/>
              </a:rPr>
              <a:t>0-75% Ar 에서 Br/H 비는 8.87→3.23 으로 줄어들지만, HBr 해리 자체는 계속 유지된다.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50">
                <a:solidFill>
                  <a:srgbClr val="1F2937"/>
                </a:solidFill>
                <a:latin typeface="Malgun Gothic"/>
              </a:rPr>
              <a:t>HBr/Cl2 에서는 Cl2 가 Br 형성 반응과 HCl, BrCl 부산물 축적을 동시에 유도한다.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50">
                <a:solidFill>
                  <a:srgbClr val="1F2937"/>
                </a:solidFill>
                <a:latin typeface="Malgun Gothic"/>
              </a:rPr>
              <a:t>Br 밀도는 40% Cl2 까지 거의 유지되고, 60% Cl2 에서도 순수 HBr 대비 약 1.3배만 감소한다.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623560"/>
            <a:ext cx="4828032" cy="475488"/>
          </a:xfrm>
          <a:prstGeom prst="roundRect">
            <a:avLst/>
          </a:prstGeom>
          <a:solidFill>
            <a:srgbClr val="FAE8D5"/>
          </a:solidFill>
          <a:ln>
            <a:solidFill>
              <a:srgbClr val="F3C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751576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34A"/>
                </a:solidFill>
                <a:latin typeface="Malgun Gothic"/>
              </a:rPr>
              <a:t>해석: Ar 는 희석 효과가 중심이고, Cl2 는 Br/Cl/HCl/BrCl 화학 균형을 새로 만든다.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92024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Malgun Gothic"/>
              </a:rPr>
              <a:t>원문 Figure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2744" y="2139696"/>
            <a:ext cx="5239512" cy="3959352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76272"/>
            <a:ext cx="5166360" cy="3886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7589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Source: Efremov et al., Plasma Chemistry and Plasma Processing 31, 259-271 (2011)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41732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Paper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334A"/>
                </a:solidFill>
                <a:latin typeface="Malgun Gothic"/>
              </a:rPr>
              <a:t>5. 결과 C: Dry etch mechanism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70078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Ar 는 ion-assisted regime, Cl2 는 reaction-rate-limited regime 에 더 민감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74519"/>
            <a:ext cx="48006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00">
                <a:solidFill>
                  <a:srgbClr val="1F2937"/>
                </a:solidFill>
                <a:latin typeface="Malgun Gothic"/>
              </a:rPr>
              <a:t>ion-flux-limited regime 에서는 mi·sqrt(e)·Gamma+ 를 ion energy flux 지표로 본다.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00">
                <a:solidFill>
                  <a:srgbClr val="1F2937"/>
                </a:solidFill>
                <a:latin typeface="Malgun Gothic"/>
              </a:rPr>
              <a:t>HBr/Ar 의 bias voltage 감소폭은 395→195 V 로 크고, HBr/Cl2 는 395→357 V 로 완만하다.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00">
                <a:solidFill>
                  <a:srgbClr val="1F2937"/>
                </a:solidFill>
                <a:latin typeface="Malgun Gothic"/>
              </a:rPr>
              <a:t>순수 Ar plasma 의 ion energy flux 는 순수 Cl2 plasma 보다 3배 이상 커서, 물리적 보조 식각 변화가 더 크다.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700">
                <a:solidFill>
                  <a:srgbClr val="1F2937"/>
                </a:solidFill>
                <a:latin typeface="Malgun Gothic"/>
              </a:rPr>
              <a:t>반대로 HBr/Cl2 는 Br 경로와 Cl 경로의 경쟁이 핵심이다. Cl 경로가 우세하면 etch rate 가 한 자릿수 이상 커질 수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0448" y="190195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Malgun Gothic"/>
              </a:rPr>
              <a:t>원문 Figure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3986784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Malgun Gothic"/>
              </a:rPr>
              <a:t>원문 Figure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33872" y="2103120"/>
            <a:ext cx="5285232" cy="1673352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139696"/>
            <a:ext cx="5212080" cy="1600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33872" y="4187952"/>
            <a:ext cx="5285232" cy="1901952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4224528"/>
            <a:ext cx="5212080" cy="1828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7589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Source: Efremov et al., Plasma Chemistry and Plasma Processing 31, 259-271 (2011)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41732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Paper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334A"/>
                </a:solidFill>
                <a:latin typeface="Malgun Gothic"/>
              </a:rPr>
              <a:t>6. 두 플라즈마를 한 장으로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70078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공정 제어 관점에서 보면 어떤 레버가 다른가?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2743200" cy="621792"/>
          </a:xfrm>
          <a:prstGeom prst="round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비교 항목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965960"/>
            <a:ext cx="3337560" cy="621792"/>
          </a:xfrm>
          <a:prstGeom prst="roundRect">
            <a:avLst/>
          </a:prstGeom>
          <a:solidFill>
            <a:srgbClr val="0F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2148840"/>
            <a:ext cx="3063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HBr/Ar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965960"/>
            <a:ext cx="3520440" cy="621792"/>
          </a:xfrm>
          <a:prstGeom prst="roundRect">
            <a:avLst/>
          </a:prstGeom>
          <a:solidFill>
            <a:srgbClr val="0F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2148840"/>
            <a:ext cx="3246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HBr/Cl2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880360"/>
            <a:ext cx="248716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8334A"/>
                </a:solidFill>
                <a:latin typeface="Malgun Gothic"/>
              </a:rPr>
              <a:t>주된 변화 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724912"/>
            <a:ext cx="33375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41064" y="2880360"/>
            <a:ext cx="30815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1F2937"/>
                </a:solidFill>
                <a:latin typeface="Malgun Gothic"/>
              </a:rPr>
              <a:t>ion current, ion energy flux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724912"/>
            <a:ext cx="35204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4" y="2880360"/>
            <a:ext cx="326440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1F2937"/>
                </a:solidFill>
                <a:latin typeface="Malgun Gothic"/>
              </a:rPr>
              <a:t>Br/Cl radical balance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84448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739896"/>
            <a:ext cx="248716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8334A"/>
                </a:solidFill>
                <a:latin typeface="Malgun Gothic"/>
              </a:rPr>
              <a:t>지배 메커니즘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3584448"/>
            <a:ext cx="33375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41064" y="3739896"/>
            <a:ext cx="30815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1F2937"/>
                </a:solidFill>
                <a:latin typeface="Malgun Gothic"/>
              </a:rPr>
              <a:t>물리적 보조 식각 변화가 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584448"/>
            <a:ext cx="35204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4" y="3739896"/>
            <a:ext cx="326440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1F2937"/>
                </a:solidFill>
                <a:latin typeface="Malgun Gothic"/>
              </a:rPr>
              <a:t>화학 반응 경로 변화가 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43983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599431"/>
            <a:ext cx="248716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8334A"/>
                </a:solidFill>
                <a:latin typeface="Malgun Gothic"/>
              </a:rPr>
              <a:t>대표 종 변화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0" y="4443983"/>
            <a:ext cx="33375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1064" y="4599431"/>
            <a:ext cx="30815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1F2937"/>
                </a:solidFill>
                <a:latin typeface="Malgun Gothic"/>
              </a:rPr>
              <a:t>Br 감소, H 상대 증가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4443983"/>
            <a:ext cx="35204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8664" y="4599431"/>
            <a:ext cx="326440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1F2937"/>
                </a:solidFill>
                <a:latin typeface="Malgun Gothic"/>
              </a:rPr>
              <a:t>Cl, HCl, BrCl 증가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303519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5458967"/>
            <a:ext cx="248716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8334A"/>
                </a:solidFill>
                <a:latin typeface="Malgun Gothic"/>
              </a:rPr>
              <a:t>공정적 시사점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5303519"/>
            <a:ext cx="33375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41064" y="5458967"/>
            <a:ext cx="30815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1F2937"/>
                </a:solidFill>
                <a:latin typeface="Malgun Gothic"/>
              </a:rPr>
              <a:t>anisotropy, ion assistance 조절에 유리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5303519"/>
            <a:ext cx="35204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98664" y="5458967"/>
            <a:ext cx="326440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1F2937"/>
                </a:solidFill>
                <a:latin typeface="Malgun Gothic"/>
              </a:rPr>
              <a:t>reaction-rate, selectivity chemistry 조절에 유리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6291072"/>
            <a:ext cx="10241280" cy="365760"/>
          </a:xfrm>
          <a:prstGeom prst="roundRect">
            <a:avLst/>
          </a:prstGeom>
          <a:solidFill>
            <a:srgbClr val="FAE8D5"/>
          </a:solidFill>
          <a:ln>
            <a:solidFill>
              <a:srgbClr val="F3C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6382512"/>
            <a:ext cx="9692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8334A"/>
                </a:solidFill>
                <a:latin typeface="Malgun Gothic"/>
              </a:rPr>
              <a:t>한 문장으로: Ar 는 이온이 얼마나 세게 때리는지 바꾸고, Cl2 는 표면에서 누가 화학 반응을 주도하는지 바꾼다.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510528"/>
            <a:ext cx="7589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Source: Efremov et al., Plasma Chemistry and Plasma Processing 31, 259-271 (2011)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41732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Paper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334A"/>
                </a:solidFill>
                <a:latin typeface="Malgun Gothic"/>
              </a:rPr>
              <a:t>7.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70078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발표 마무리용 요약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378440" cy="1325880"/>
          </a:xfrm>
          <a:prstGeom prst="round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76272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algun Gothic"/>
              </a:rPr>
              <a:t>결론적으로, HBr/Ar 는 ion-flux-limited 식각을, HBr/Cl2 는 reaction-rate-limited 식각을 더 강하게 흔든다.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5669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800">
                <a:solidFill>
                  <a:srgbClr val="1F2937"/>
                </a:solidFill>
                <a:latin typeface="Malgun Gothic"/>
              </a:rPr>
              <a:t>Ar 혼합은 ion energy flux 변화가 커서 물리적 보조 효과의 제어 레버로 해석할 수 있다.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800">
                <a:solidFill>
                  <a:srgbClr val="1F2937"/>
                </a:solidFill>
                <a:latin typeface="Malgun Gothic"/>
              </a:rPr>
              <a:t>Cl2 혼합은 Br/Cl flux 경쟁을 만들기 때문에 재료별 화학 반응성과 선택비 설계에 직접 연결된다.</a:t>
            </a:r>
          </a:p>
          <a:p>
            <a:pPr algn="l">
              <a:spcAft>
                <a:spcPts val="500"/>
              </a:spcAft>
              <a:defRPr>
                <a:solidFill>
                  <a:srgbClr val="D97706"/>
                </a:solidFill>
              </a:defRPr>
            </a:pPr>
            <a:r>
              <a:rPr sz="1800">
                <a:solidFill>
                  <a:srgbClr val="1F2937"/>
                </a:solidFill>
                <a:latin typeface="Malgun Gothic"/>
              </a:rPr>
              <a:t>같은 HBr 기반 공정이라도 additive gas 선택이 식각 메커니즘의 우선순위를 바꾼다는 점이 핵심 기여다.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730752"/>
            <a:ext cx="4206240" cy="1847088"/>
          </a:xfrm>
          <a:prstGeom prst="roundRect">
            <a:avLst/>
          </a:prstGeom>
          <a:solidFill>
            <a:srgbClr val="FAE8D5"/>
          </a:solidFill>
          <a:ln>
            <a:solidFill>
              <a:srgbClr val="F3C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87184" y="3977639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algun Gothic"/>
              </a:rPr>
              <a:t>토의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7184" y="4297680"/>
            <a:ext cx="3520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8334A"/>
                </a:solidFill>
                <a:latin typeface="Malgun Gothic"/>
              </a:rPr>
              <a:t>1. 목표 재료가 Br 에 더 민감하면 Cl2 첨가 전략은 어떻게 달라질까?
2. anisotropy 가 중요할 때는 Ar 조절이 왜 더 직접적인가?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D6C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7589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ptos"/>
              </a:rPr>
              <a:t>Source: Efremov et al., Plasma Chemistry and Plasma Processing 31, 259-271 (2011)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