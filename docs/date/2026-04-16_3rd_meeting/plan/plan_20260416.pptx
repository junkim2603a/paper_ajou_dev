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83" r:id="rId3"/>
    <p:sldId id="286" r:id="rId4"/>
    <p:sldId id="258" r:id="rId5"/>
    <p:sldId id="259" r:id="rId6"/>
    <p:sldId id="260" r:id="rId7"/>
    <p:sldId id="261" r:id="rId8"/>
    <p:sldId id="262" r:id="rId9"/>
    <p:sldId id="281" r:id="rId10"/>
    <p:sldId id="264" r:id="rId11"/>
    <p:sldId id="265" r:id="rId12"/>
    <p:sldId id="266" r:id="rId13"/>
    <p:sldId id="267" r:id="rId14"/>
    <p:sldId id="284" r:id="rId15"/>
    <p:sldId id="285" r:id="rId16"/>
    <p:sldId id="270" r:id="rId17"/>
    <p:sldId id="271" r:id="rId18"/>
    <p:sldId id="272" r:id="rId19"/>
    <p:sldId id="273" r:id="rId20"/>
    <p:sldId id="274" r:id="rId21"/>
    <p:sldId id="275" r:id="rId22"/>
    <p:sldId id="300" r:id="rId23"/>
    <p:sldId id="288" r:id="rId24"/>
    <p:sldId id="282" r:id="rId25"/>
    <p:sldId id="289" r:id="rId26"/>
    <p:sldId id="290" r:id="rId27"/>
    <p:sldId id="291" r:id="rId28"/>
    <p:sldId id="292" r:id="rId29"/>
    <p:sldId id="299" r:id="rId30"/>
    <p:sldId id="276" r:id="rId31"/>
    <p:sldId id="293" r:id="rId32"/>
    <p:sldId id="294" r:id="rId33"/>
    <p:sldId id="295" r:id="rId34"/>
    <p:sldId id="296" r:id="rId35"/>
    <p:sldId id="287" r:id="rId36"/>
    <p:sldId id="277" r:id="rId37"/>
    <p:sldId id="278" r:id="rId38"/>
    <p:sldId id="279" r:id="rId39"/>
    <p:sldId id="280" r:id="rId40"/>
  </p:sldIdLst>
  <p:sldSz cx="12192000" cy="6858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EA49DA3-46F2-4972-B1B9-B738AB2E0F56}">
          <p14:sldIdLst>
            <p14:sldId id="256"/>
            <p14:sldId id="283"/>
            <p14:sldId id="286"/>
            <p14:sldId id="258"/>
            <p14:sldId id="259"/>
            <p14:sldId id="260"/>
            <p14:sldId id="261"/>
            <p14:sldId id="262"/>
            <p14:sldId id="281"/>
            <p14:sldId id="264"/>
            <p14:sldId id="265"/>
            <p14:sldId id="266"/>
            <p14:sldId id="267"/>
            <p14:sldId id="284"/>
            <p14:sldId id="285"/>
            <p14:sldId id="270"/>
            <p14:sldId id="271"/>
            <p14:sldId id="272"/>
            <p14:sldId id="273"/>
            <p14:sldId id="274"/>
            <p14:sldId id="275"/>
            <p14:sldId id="300"/>
            <p14:sldId id="288"/>
            <p14:sldId id="282"/>
            <p14:sldId id="289"/>
            <p14:sldId id="290"/>
            <p14:sldId id="291"/>
            <p14:sldId id="292"/>
            <p14:sldId id="299"/>
            <p14:sldId id="276"/>
            <p14:sldId id="293"/>
            <p14:sldId id="294"/>
            <p14:sldId id="295"/>
            <p14:sldId id="296"/>
            <p14:sldId id="287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35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
- Asset source (cropped examples): ISIC 2024 Challenge / Kaggle example tiles https://www.kaggle.com/competitions/isic-2024-challenge/data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FC27-211F-81DC-C912-8E050C86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01A55-D831-2C2B-EF03-AA9A75AC4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8D20E-C17A-0AA2-BFB1-6C41E8D44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연구방법_발표자료_스타일적용.pptx; 연구A_논문계획서(석사과정)_김준_202533156.pdf; 연구방법 단계 구체화.txt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8E4F3-8EA6-368E-2B9A-9F18F6628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
- External context on SLICE-3D / triage motivation: https://www.nature.com/articles/s41597-024-03743-w ; https://challenge2024.isic-archive.com/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data facts: isic2024_eda_20260411.ipynb
- Official dataset facts: https://challenge2024.isic-archive.com/
- Asset + dataset context: Kurtansky et al., Scientific Data 2024 https://www.nature.com/articles/s41597-024-03743-w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연구방법_발표자료_스타일적용.pptx; 연구A_논문계획서(석사과정)_김준_202533156.pdf; 연구방법 단계 구체화.txt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data facts: isic2024_eda_20260411.ipynb
- Internal methodology: 연구A_논문계획서(석사과정)_김준_202533156.pdf; 연구방법 단계 구체화.txt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D62F-4859-AD72-6BEF-A68C22B2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41650-519C-D718-D5E3-08D5D53CA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B32E7-1D04-1EF1-4880-BC2F23448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isic2024_eda_20260411.ipynb (strict_main_input 51 구성); 연구방법 단계 구체화.txt; 연구A_논문계획서(석사과정)_김준_202533156.pdf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1FED-A4F9-3D2D-F802-90522E343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13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isic2024_eda_20260411.ipynb (sections 11–12); 연구방법 단계 구체화.txt
- External literature anchors: https://dermoscopedia.org/ABCD_rule ; https://jamanetwork.com/journals/jamadermatology/fullarticle/419590 ; https://dermnetnz.org/cme/dermoscopy-course/dermoscopic-features ; https://www.nature.com/articles/s41597-024-03743-w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연구방법_발표자료_스타일적용.pptx; 연구방법 단계 구체화.txt; isic2024_eda_20260411.ipynb
- External literature anchors: ABCD rule https://dermoscopedia.org/ABCD_rule ; CASH https://jamanetwork.com/journals/jamadermatology/fullarticle/419590 ; DermNet dermatoscopic features https://dermnetnz.org/cme/dermoscopy-course/dermoscopic-features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isic2024_eda_20260411.ipynb section 12.1-c (final strict engineered features)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architecture: 연구A_논문계획서(석사과정)_김준_202533156.pdf; 연구방법 단계 구체화.txt
- Asset source: ISIC 2024 Challenge / Kaggle example tiles https://www.kaggle.com/competitions/isic-2024-challenge/data
- Tabular baseline rationale: Gorishniy et al. NeurIPS 2021 https://proceedings.neurips.cc/paper/2021/hash/9d86d83f925f2149e9edb0ac3b49229c-Abstract.html
- Cross-attention multimodal precedent: TIP ECCV 2024 https://arxiv.org/abs/2407.07582 ; Tran-Van &amp; Le 2025 https://www.sciencedirect.com/science/article/abs/pii/S0895611125000977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6DC8-5F17-BD0E-EF73-67D47A09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5F168-411E-23BB-1C0E-349558FB6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AD1C1-B34B-07DD-8360-7D6AFB569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architecture: 연구A_논문계획서(석사과정)_김준_202533156.pdf; 연구방법 단계 구체화.txt
- Asset source: ISIC 2024 Challenge / Kaggle example tiles https://www.kaggle.com/competitions/isic-2024-challenge/data
- Tabular baseline rationale: Gorishniy et al. NeurIPS 2021 https://proceedings.neurips.cc/paper/2021/hash/9d86d83f925f2149e9edb0ac3b49229c-Abstract.html
- Cross-attention multimodal precedent: TIP ECCV 2024 https://arxiv.org/abs/2407.07582 ; Tran-Van &amp; Le 2025 https://www.sciencedirect.com/science/article/abs/pii/S0895611125000977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01E5C-6590-D285-54BB-6D92AD19C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33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10C73-519D-461E-B90F-DEE67F24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2528A-F8D7-8C03-1602-6E91281B4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A196A-C367-6F8D-5D91-B280A9055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구체화.txt; isic2024_eda_20260411.ipynb section 14
- LUPI / generalized distillation framing: https://leon.bottou.org/publications/pdf/iclr-2016.pdf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A85C3-F362-AF0C-5F7A-C5A194190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62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연구A_논문계획서(석사과정)_김준_202533156.pdf; 연구방법 단계 구체화.txt
- Dataset / challenge context: https://challenge2024.isic-archive.com/ ; https://www.kaggle.com/competitions/isic-2024-challenge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plan: 연구A_논문계획서(석사과정)_김준_202533156.pdf; 연구방법 단계 구체화.txt
- Internal image source for tile example: ISIC 2024 Challenge / Kaggle example tiles https://www.kaggle.com/competitions/isic-2024-challenge/data
- XAI precedent: Wang et al., Scientific Reports 2025 https://www.nature.com/articles/s41598-025-33536-z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synthesis: 연구A_논문계획서(석사과정)_김준_202533156.pdf; 연구방법 단계 구체화.txt; isic2024_eda_20260411.ipynb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Appendix sources summarized in following slides.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6890D-95EF-A7E1-0E18-7D7E1E93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2DC29-9C5F-0304-4A84-7B3455B06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966EF-B262-862C-81B3-B3F95D1F4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Appendix sources summarized in following slides.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4E6E6-6A81-D54B-A2DF-2FEA1DD1E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13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screenshots: image(17).png, image(18).png
- Vapnik &amp; Izmailov | Learning Using Privileged Information: Similarity Control and Knowledge Transfer | JMLR 2015 | https://jmlr.org/papers/v16/vapnik15b.html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screenshots: image(17).png, image(18).png
- Vapnik &amp; Izmailov | Learning Using Privileged Information: Similarity Control and Knowledge Transfer | JMLR 2015 | https://jmlr.org/papers/v16/vapnik15b.html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screenshots: image(17).png, image(18).png
- Vapnik &amp; Izmailov | Learning Using Privileged Information: Similarity Control and Knowledge Transfer | JMLR 2015 | https://jmlr.org/papers/v16/vapnik15b.html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screenshots: image(17).png, image(18).png
- Vapnik &amp; Izmailov | Learning Using Privileged Information: Similarity Control and Knowledge Transfer | JMLR 2015 | https://jmlr.org/papers/v16/vapnik15b.html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screenshots: image(17).png, image(18).png
- Vapnik &amp; Izmailov | Learning Using Privileged Information: Similarity Control and Knowledge Transfer | JMLR 2015 | https://jmlr.org/papers/v16/vapnik15b.html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DBF0-11EF-ED63-1408-40509B22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BF4C1-E95F-3C12-50B0-6C8D77626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494C6-E65A-9858-24BA-1EB6C5332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screenshots: image(17).png, image(18).png
- Vapnik &amp; Izmailov | Learning Using Privileged Information: Similarity Control and Knowledge Transfer | JMLR 2015 | https://jmlr.org/papers/v16/vapnik15b.html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A616B-6053-ADE6-CCDE-3631782C9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0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B376-E0C2-3C66-C9AF-722A6B3E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D661B-CA15-187D-79A0-633795A33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734A1-421A-17F8-B770-5CBFC1B05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Appendix sources summarized in following slides.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3D9D5-8631-D2EF-9E84-9A6DDFCB1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98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summary: /mnt/data/image(23).png.
- Tang et al., KDD 2019, paper title/authors/abstract and introduction (training-only PI, EHR/discharge-note example, and the central question of retaining PI in multi-task learning).
- Verification source used during creation: https://web.mit.edu/lilehman/www/paper/LUPI_KDD2019.pdf (abstract + introduction pages).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summary: /mnt/data/image(23).png.
- Tang et al., KDD 2019, related-work discussion on limitations of auxiliary targets, prior constraints, and data fusion in the multi-task/LUPI setting.
- Verification source used during creation: https://web.mit.edu/lilehman/www/paper/LUPI_KDD2019.pdf (related works section + discussion of baseline failures).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summary: /mnt/data/image(23).png.
- Tang et al., KDD 2019, proposed-method section describing: (1) PI vocabulary / distributed representation, (2) joint representation space Φ between X and X*, and (3) shared decision learning with feature matching and contrastive loss.
- Verification source used during creation: https://web.mit.edu/lilehman/www/paper/LUPI_KDD2019.pdf (proposed method pages).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summary: /mnt/data/image(24).png.
- Tang et al., KDD 2019, dataset description (MIMIC-III / UMLS / ICD-9 / temporal features), discharge notes as PI, and rare-disease evaluation with codes appearing fewer than 100 times.
- Table values used in the visual: rare-disease subset AUPRC comparison across MTL, Distillation, Data Fusion, and Ours.
- Verification source used during creation: https://web.mit.edu/lilehman/www/paper/LUPI_KDD2019.pdf (dataset pages and Table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screenshot summary: /mnt/data/image(24).png.
- Tang et al., KDD 2019, discussion/conclusion and sample-complexity analysis.
- Connection to the existing presentation is based on user-provided PDF slides discussing strict inference inputs and representation-level use of train-time privileged information: /mnt/data/111(3).pdf (especially title/problem/summary slides).
- Verification source used during creation: https://web.mit.edu/lilehman/www/paper/LUPI_KDD2019.pdf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3E8C-661E-0C42-1DD4-5DD50E8C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C3F86-03AB-E589-8FF4-F520D95D0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A9B04-536C-3599-4577-04DE44839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Paper: https://www.nature.com/articles/s41597-024-03743-w
- Official dataset page: https://challenge2024.isic-archive.com/
- Asset: Fig. 2 from Kurtansky et al. 2024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743BE-2C5D-E9BC-3694-313A87DAD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125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Paper: https://proceedings.neurips.cc/paper/2021/hash/9d86d83f925f2149e9edb0ac3b49229c-Abstract.html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TIP: https://arxiv.org/abs/2407.07582
- Skin-lesion cross-attention multimodal paper: https://www.sciencedirect.com/science/article/abs/pii/S0895611125000977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LUPI / generalized distillation PDF: https://leon.bottou.org/publications/pdf/iclr-2016.pdf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Paper: https://www.nature.com/articles/s41598-025-33536-z
- Internal evaluation plan: 연구A_논문계획서(석사과정)_김준_202533156.pdf; 연구방법 단계 구체화.txt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737360" cy="256032"/>
          </a:xfrm>
          <a:prstGeom prst="roundRect">
            <a:avLst/>
          </a:prstGeom>
          <a:solidFill>
            <a:srgbClr val="F08B67"/>
          </a:solidFill>
          <a:ln>
            <a:solidFill>
              <a:srgbClr val="F08B6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연구방법 발표자료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19" y="1866733"/>
            <a:ext cx="90882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700" dirty="0">
                <a:solidFill>
                  <a:srgbClr val="D7E7E9"/>
                </a:solidFill>
                <a:latin typeface="Malgun Gothic" pitchFamily="34" charset="0"/>
                <a:ea typeface="Malgun Gothic" pitchFamily="34" charset="-122"/>
              </a:rPr>
              <a:t>Train-Time Privileged Information</a:t>
            </a:r>
            <a:r>
              <a:rPr lang="ko-KR" altLang="en-US" sz="1700" dirty="0">
                <a:solidFill>
                  <a:srgbClr val="D7E7E9"/>
                </a:solidFill>
                <a:latin typeface="Malgun Gothic" pitchFamily="34" charset="0"/>
                <a:ea typeface="Malgun Gothic" pitchFamily="34" charset="-122"/>
              </a:rPr>
              <a:t>을 활용한 </a:t>
            </a:r>
            <a:r>
              <a:rPr lang="en-US" altLang="ko-KR" sz="1700" dirty="0">
                <a:solidFill>
                  <a:srgbClr val="D7E7E9"/>
                </a:solidFill>
                <a:latin typeface="Malgun Gothic" pitchFamily="34" charset="0"/>
                <a:ea typeface="Malgun Gothic" pitchFamily="34" charset="-122"/>
              </a:rPr>
              <a:t>Representation Alignment Framework</a:t>
            </a:r>
            <a:endParaRPr lang="en-US" sz="1700" dirty="0">
              <a:solidFill>
                <a:srgbClr val="D7E7E9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AFC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아주대 </a:t>
            </a:r>
            <a:r>
              <a:rPr lang="en-US" sz="1150" dirty="0" err="1">
                <a:solidFill>
                  <a:srgbClr val="AFC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김준</a:t>
            </a:r>
            <a:r>
              <a:rPr lang="en-US" sz="1150" dirty="0">
                <a:solidFill>
                  <a:srgbClr val="AFC8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(202533156)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4526280"/>
            <a:ext cx="1600200" cy="347472"/>
          </a:xfrm>
          <a:prstGeom prst="roundRect">
            <a:avLst/>
          </a:prstGeom>
          <a:solidFill>
            <a:srgbClr val="0F6B74"/>
          </a:solidFill>
          <a:ln>
            <a:solidFill>
              <a:srgbClr val="0F6B7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58568" y="4526280"/>
            <a:ext cx="2057400" cy="347472"/>
          </a:xfrm>
          <a:prstGeom prst="roundRect">
            <a:avLst/>
          </a:prstGeom>
          <a:solidFill>
            <a:srgbClr val="E7B35B"/>
          </a:solidFill>
          <a:ln>
            <a:solidFill>
              <a:srgbClr val="E7B35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Auxiliary oracle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71416" y="4526280"/>
            <a:ext cx="1874520" cy="347472"/>
          </a:xfrm>
          <a:prstGeom prst="roundRect">
            <a:avLst/>
          </a:prstGeom>
          <a:solidFill>
            <a:srgbClr val="D5E7E5"/>
          </a:solidFill>
          <a:ln>
            <a:solidFill>
              <a:srgbClr val="D5E7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 head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19" y="5047488"/>
            <a:ext cx="8246318" cy="868680"/>
          </a:xfrm>
          <a:prstGeom prst="roundRect">
            <a:avLst/>
          </a:prstGeom>
          <a:solidFill>
            <a:srgbClr val="104851"/>
          </a:solidFill>
          <a:ln w="12700">
            <a:solidFill>
              <a:srgbClr val="2B727A"/>
            </a:solidFill>
          </a:ln>
        </p:spPr>
        <p:txBody>
          <a:bodyPr wrap="square" lIns="2286" tIns="2286" rIns="2286" bIns="2286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1600" dirty="0"/>
          </a:p>
          <a:p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Inference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입력을 변경하지 않고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, </a:t>
            </a:r>
          </a:p>
          <a:p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privileged pathology information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을 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representation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수준에서만 반영</a:t>
            </a:r>
            <a:endParaRPr lang="en-US" sz="1600" dirty="0"/>
          </a:p>
        </p:txBody>
      </p:sp>
      <p:pic>
        <p:nvPicPr>
          <p:cNvPr id="10" name="Image 0" descr="/mnt/data/assets_tile_melanoma_no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688" y="5135305"/>
            <a:ext cx="618730" cy="4742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Text 8"/>
          <p:cNvSpPr/>
          <p:nvPr/>
        </p:nvSpPr>
        <p:spPr>
          <a:xfrm>
            <a:off x="9348753" y="5733288"/>
            <a:ext cx="99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6D9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malignant tile</a:t>
            </a:r>
          </a:p>
          <a:p>
            <a:pPr algn="ctr"/>
            <a:r>
              <a:rPr lang="en-US" altLang="ko-KR" sz="850" dirty="0">
                <a:solidFill>
                  <a:srgbClr val="C6D9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Malignant: </a:t>
            </a:r>
            <a:r>
              <a:rPr lang="ko-KR" altLang="en-US" sz="850" dirty="0">
                <a:solidFill>
                  <a:srgbClr val="C6D9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악성종양</a:t>
            </a:r>
            <a:endParaRPr lang="en-US" sz="850" dirty="0"/>
          </a:p>
        </p:txBody>
      </p:sp>
      <p:pic>
        <p:nvPicPr>
          <p:cNvPr id="12" name="Image 1" descr="/mnt/data/assets_tile_nevus_no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8973" y="5135305"/>
            <a:ext cx="618730" cy="4742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Text 9"/>
          <p:cNvSpPr/>
          <p:nvPr/>
        </p:nvSpPr>
        <p:spPr>
          <a:xfrm>
            <a:off x="10328691" y="5733288"/>
            <a:ext cx="1099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6D9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benign tile</a:t>
            </a:r>
          </a:p>
          <a:p>
            <a:pPr algn="ctr"/>
            <a:r>
              <a:rPr lang="en-US" altLang="ko-KR" sz="850" dirty="0">
                <a:solidFill>
                  <a:srgbClr val="C6D9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Benign: </a:t>
            </a:r>
            <a:r>
              <a:rPr lang="ko-KR" altLang="en-US" sz="850" dirty="0">
                <a:solidFill>
                  <a:srgbClr val="C6D9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양성종양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45747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1/25</a:t>
            </a:r>
            <a:endParaRPr lang="en-US" sz="9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E7CD703-79F0-091D-DD54-C08725E4EB38}"/>
              </a:ext>
            </a:extLst>
          </p:cNvPr>
          <p:cNvSpPr/>
          <p:nvPr/>
        </p:nvSpPr>
        <p:spPr>
          <a:xfrm>
            <a:off x="502918" y="989378"/>
            <a:ext cx="118878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시점 제약 하에서의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융합과 </a:t>
            </a:r>
            <a:endParaRPr lang="en-US" altLang="ko-KR" sz="28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오라클 정렬 기반 피부암 분류</a:t>
            </a:r>
            <a:endParaRPr lang="en-US" sz="28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13C3-AEB4-DBEF-10E1-3235A145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C1F172-E54B-57BA-3A52-8A0A991B66FB}"/>
              </a:ext>
            </a:extLst>
          </p:cNvPr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80CD37-BD4C-D9B7-B378-CB6486B0476F}"/>
              </a:ext>
            </a:extLst>
          </p:cNvPr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→ 설계 원칙 → 단계별 방법 → 평가 계획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A3D9C9-5EBF-ED44-6A99-11D7C47B1750}"/>
              </a:ext>
            </a:extLst>
          </p:cNvPr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9A974D-31A3-CEC4-5C2A-DF2534352035}"/>
              </a:ext>
            </a:extLst>
          </p:cNvPr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D2EFEB-F578-7FBF-3F59-4287D376F536}"/>
              </a:ext>
            </a:extLst>
          </p:cNvPr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412D96-361E-E8CF-E1BF-FE9360D50C91}"/>
              </a:ext>
            </a:extLst>
          </p:cNvPr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29185B-3E80-9A5E-3270-400F39CD3D62}"/>
              </a:ext>
            </a:extLst>
          </p:cNvPr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039B1A-768C-A032-88CC-7B68B3EB33F9}"/>
              </a:ext>
            </a:extLst>
          </p:cNvPr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B494E9-3CC0-734B-E71F-022F3CE9E222}"/>
              </a:ext>
            </a:extLst>
          </p:cNvPr>
          <p:cNvSpPr/>
          <p:nvPr/>
        </p:nvSpPr>
        <p:spPr>
          <a:xfrm>
            <a:off x="777240" y="1298448"/>
            <a:ext cx="5577840" cy="384048"/>
          </a:xfrm>
          <a:prstGeom prst="roundRect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 연구 배경과 문제 재정의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F0E22C-FA8E-E73F-2D9A-A97DA31C42B4}"/>
              </a:ext>
            </a:extLst>
          </p:cNvPr>
          <p:cNvSpPr/>
          <p:nvPr/>
        </p:nvSpPr>
        <p:spPr>
          <a:xfrm>
            <a:off x="777240" y="1883664"/>
            <a:ext cx="5577840" cy="384048"/>
          </a:xfrm>
          <a:prstGeom prst="roundRect">
            <a:avLst/>
          </a:prstGeom>
          <a:solidFill>
            <a:srgbClr val="EFE2C7"/>
          </a:solidFill>
          <a:ln>
            <a:solidFill>
              <a:srgbClr val="EFE2C7"/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 데이터 현실과 전체 파이프라인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D655C60-91EE-335D-C786-91966EFD5D6A}"/>
              </a:ext>
            </a:extLst>
          </p:cNvPr>
          <p:cNvSpPr/>
          <p:nvPr/>
        </p:nvSpPr>
        <p:spPr>
          <a:xfrm>
            <a:off x="777240" y="2468880"/>
            <a:ext cx="5577840" cy="384048"/>
          </a:xfrm>
          <a:prstGeom prst="roundRect">
            <a:avLst/>
          </a:prstGeom>
          <a:solidFill>
            <a:srgbClr val="F6D8CB"/>
          </a:solidFill>
          <a:ln>
            <a:solidFill>
              <a:srgbClr val="F6D8CB"/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 Phase 1 | patient-level split · strict 입력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20E569E-8C6E-C47E-51FC-8D9C1D8D338B}"/>
              </a:ext>
            </a:extLst>
          </p:cNvPr>
          <p:cNvSpPr/>
          <p:nvPr/>
        </p:nvSpPr>
        <p:spPr>
          <a:xfrm>
            <a:off x="777240" y="3054096"/>
            <a:ext cx="5577840" cy="384048"/>
          </a:xfrm>
          <a:prstGeom prst="roundRect">
            <a:avLst/>
          </a:prstGeom>
          <a:solidFill>
            <a:srgbClr val="DDEAD9"/>
          </a:solidFill>
          <a:ln>
            <a:solidFill>
              <a:srgbClr val="DDEAD9"/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 Phase 2 | EDA · feature engineering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7E60220-D7B0-4FEB-BE37-F956B7E951D5}"/>
              </a:ext>
            </a:extLst>
          </p:cNvPr>
          <p:cNvSpPr/>
          <p:nvPr/>
        </p:nvSpPr>
        <p:spPr>
          <a:xfrm>
            <a:off x="777240" y="3639312"/>
            <a:ext cx="5577840" cy="38404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EDF6F7"/>
            </a:solidFill>
          </a:ln>
        </p:spPr>
        <p:txBody>
          <a:bodyPr wrap="square" lIns="2032" tIns="2032" rIns="2032" bIns="2032" rtlCol="0" anchor="ctr"/>
          <a:lstStyle/>
          <a:p>
            <a:r>
              <a:rPr lang="en-US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 Phase 2.5 | </a:t>
            </a:r>
            <a:r>
              <a:rPr lang="en-US" sz="150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Mixup</a:t>
            </a:r>
            <a:r>
              <a:rPr lang="en-US" altLang="ko-KR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Anchor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AAE254-DD0B-1895-066F-9340C51A8DC3}"/>
              </a:ext>
            </a:extLst>
          </p:cNvPr>
          <p:cNvSpPr/>
          <p:nvPr/>
        </p:nvSpPr>
        <p:spPr>
          <a:xfrm>
            <a:off x="777240" y="4224528"/>
            <a:ext cx="5577840" cy="384048"/>
          </a:xfrm>
          <a:prstGeom prst="roundRect">
            <a:avLst/>
          </a:prstGeom>
          <a:solidFill>
            <a:srgbClr val="EDF6F7"/>
          </a:solidFill>
          <a:ln>
            <a:solidFill>
              <a:srgbClr val="EDF6F7"/>
            </a:solidFill>
          </a:ln>
        </p:spPr>
        <p:txBody>
          <a:bodyPr wrap="square" lIns="2032" tIns="2032" rIns="2032" bIns="2032" rtlCol="0" anchor="ctr"/>
          <a:lstStyle/>
          <a:p>
            <a:r>
              <a:rPr lang="en-US" altLang="ko-KR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06   Phase 3–5 | base model · oracle · correction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2F1BB4-4D64-D873-CD07-8F00E959FA15}"/>
              </a:ext>
            </a:extLst>
          </p:cNvPr>
          <p:cNvSpPr/>
          <p:nvPr/>
        </p:nvSpPr>
        <p:spPr>
          <a:xfrm>
            <a:off x="777240" y="4809744"/>
            <a:ext cx="5577840" cy="384048"/>
          </a:xfrm>
          <a:prstGeom prst="roundRect">
            <a:avLst/>
          </a:prstGeom>
          <a:solidFill>
            <a:srgbClr val="F4E8B7"/>
          </a:solidFill>
          <a:ln>
            <a:solidFill>
              <a:srgbClr val="F4E8B7"/>
            </a:solidFill>
          </a:ln>
        </p:spPr>
        <p:txBody>
          <a:bodyPr wrap="square" lIns="2032" tIns="2032" rIns="2032" bIns="2032" rtlCol="0" anchor="ctr"/>
          <a:lstStyle/>
          <a:p>
            <a:r>
              <a:rPr lang="en-US" altLang="ko-KR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07   Phase 6 | </a:t>
            </a:r>
            <a:r>
              <a:rPr lang="en-US" altLang="ko-KR" sz="150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학습</a:t>
            </a:r>
            <a:r>
              <a:rPr lang="en-US" altLang="ko-KR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 · </a:t>
            </a:r>
            <a:r>
              <a:rPr lang="en-US" altLang="ko-KR" sz="150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평가</a:t>
            </a:r>
            <a:r>
              <a:rPr lang="en-US" altLang="ko-KR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 · XAI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5A25BE9-BB4D-5B1C-F684-4ABC4FA8D50E}"/>
              </a:ext>
            </a:extLst>
          </p:cNvPr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5C6921-2C45-003B-7E2D-41BC1FC4A425}"/>
              </a:ext>
            </a:extLst>
          </p:cNvPr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8F25FEF-2063-2870-2905-5D5D2E354AA3}"/>
              </a:ext>
            </a:extLst>
          </p:cNvPr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2/25</a:t>
            </a:r>
            <a:endParaRPr lang="en-US" sz="9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A6807A7F-A80D-ADD7-FC4E-3D065ECA56E7}"/>
              </a:ext>
            </a:extLst>
          </p:cNvPr>
          <p:cNvSpPr/>
          <p:nvPr/>
        </p:nvSpPr>
        <p:spPr>
          <a:xfrm>
            <a:off x="777239" y="5396411"/>
            <a:ext cx="5577840" cy="384048"/>
          </a:xfrm>
          <a:prstGeom prst="roundRect">
            <a:avLst/>
          </a:prstGeom>
          <a:solidFill>
            <a:srgbClr val="E9E3F4"/>
          </a:solidFill>
          <a:ln>
            <a:solidFill>
              <a:srgbClr val="E9E3F4"/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 Appendix | 단계별 참고 문헌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25D6CA6-3762-D2AA-E4AA-1AA95D5C16A6}"/>
              </a:ext>
            </a:extLst>
          </p:cNvPr>
          <p:cNvSpPr/>
          <p:nvPr/>
        </p:nvSpPr>
        <p:spPr>
          <a:xfrm>
            <a:off x="777239" y="5981627"/>
            <a:ext cx="10872297" cy="6111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3556" tIns="3556" rIns="3556" bIns="3556" rtlCol="0" anchor="ctr"/>
          <a:lstStyle/>
          <a:p>
            <a:r>
              <a:rPr lang="en-US" sz="1500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</a:t>
            </a:r>
            <a:r>
              <a:rPr lang="en-US" sz="1500" u="sng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500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u="sng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r>
              <a:rPr lang="ko-KR" altLang="en-US" sz="1500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1500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다루고자 하는 핵심 문제</a:t>
            </a:r>
            <a:endParaRPr lang="en-US" sz="1500" u="sng" dirty="0"/>
          </a:p>
          <a:p>
            <a:pPr marL="0" indent="0" algn="l">
              <a:buNone/>
            </a:pP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시점에 존재하지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사용하지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않으면서도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단계의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병리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의미를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representation에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남길 수 </a:t>
            </a:r>
            <a:r>
              <a:rPr lang="en-US" sz="1500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50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5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67514C8-0F25-7436-A046-416D6150C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19" y="1269565"/>
            <a:ext cx="4947656" cy="458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32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27A8DB1-C2C4-CC9C-6E2F-19F02D466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36" y="2468033"/>
            <a:ext cx="11896528" cy="192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84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· 문제 재정의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멀티모달 분류와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점: train / inference의 modality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set이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</a:t>
            </a:r>
            <a:r>
              <a:rPr lang="ko-KR" alt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243584"/>
            <a:ext cx="3566160" cy="361188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Train-time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lesion image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strict_main_input (51)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iddx_full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시점에는 병리 </a:t>
            </a: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문자열과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맥락이 존재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91272" y="1243584"/>
            <a:ext cx="3566160" cy="361188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Inference-time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lesion image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strict_main_input (51)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7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iddx_full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배치 </a:t>
            </a: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시점에는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strict하게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가능한 정보만 사용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2651760" cy="310896"/>
          </a:xfrm>
          <a:prstGeom prst="roundRect">
            <a:avLst/>
          </a:prstGeom>
          <a:solidFill>
            <a:srgbClr val="F08B67"/>
          </a:solidFill>
          <a:ln>
            <a:solidFill>
              <a:srgbClr val="F08B6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Asymmetric clinical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3154680" cy="960120"/>
          </a:xfrm>
          <a:prstGeom prst="chevron">
            <a:avLst/>
          </a:prstGeom>
          <a:solidFill>
            <a:srgbClr val="E8EEF1"/>
          </a:solidFill>
          <a:ln w="12700">
            <a:solidFill>
              <a:srgbClr val="E8EE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432304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추론에 없는 정보를 </a:t>
            </a:r>
            <a:endParaRPr lang="en-US" altLang="ko-KR" sz="145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ctr">
              <a:buNone/>
            </a:pPr>
            <a:r>
              <a:rPr lang="ko-KR" altLang="en-US" sz="14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학습에서 어떻게 다룰 것인가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" y="5138928"/>
            <a:ext cx="1069848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286" tIns="2286" rIns="2286" bIns="2286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피부암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조기 발견과 신속한 환자 </a:t>
            </a:r>
            <a:r>
              <a:rPr lang="en-US" sz="145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분류가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450" dirty="0">
              <a:solidFill>
                <a:srgbClr val="1731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45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멀티모달 연구는 train/test modality set이 동일하다고 가정하는 </a:t>
            </a:r>
            <a:r>
              <a:rPr lang="en-US" sz="145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경우가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대다수</a:t>
            </a:r>
            <a:endParaRPr lang="en-US" altLang="ko-KR" sz="1450" dirty="0">
              <a:solidFill>
                <a:srgbClr val="1731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45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inference strictness를 보존하면서 train-time privileged information을 </a:t>
            </a:r>
            <a:r>
              <a:rPr lang="en-US" sz="145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분리해</a:t>
            </a:r>
            <a:r>
              <a:rPr 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</a:t>
            </a:r>
            <a:r>
              <a:rPr lang="ko-KR" altLang="en-US" sz="145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3/25</a:t>
            </a:r>
            <a:endParaRPr 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4A9047-9842-5C0A-D1BA-AF314C384A14}"/>
              </a:ext>
            </a:extLst>
          </p:cNvPr>
          <p:cNvSpPr txBox="1"/>
          <p:nvPr/>
        </p:nvSpPr>
        <p:spPr>
          <a:xfrm>
            <a:off x="4617720" y="6190568"/>
            <a:ext cx="67115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본 연구에서는 </a:t>
            </a:r>
            <a:r>
              <a:rPr lang="en-US" altLang="ko-KR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strict</a:t>
            </a:r>
            <a:r>
              <a:rPr lang="ko-KR" alt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 입력 설정을 추론 시점에 사용 가능한 특징(</a:t>
            </a:r>
            <a:r>
              <a:rPr lang="ko-KR" altLang="en-US" sz="90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feature</a:t>
            </a:r>
            <a:r>
              <a:rPr lang="ko-KR" alt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)만 모델 입력으로 허용하는 제약 조건으로 정의합니다.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SLICE-3D / ISIC 2024가 던지는 현실적 제약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규모는 크지만, patient-wise 구조와 극단적 imbalance 때문에 split · 평가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243584"/>
            <a:ext cx="1783080" cy="914400"/>
          </a:xfrm>
          <a:prstGeom prst="roundRect">
            <a:avLst/>
          </a:prstGeom>
          <a:solidFill>
            <a:srgbClr val="D8EEF1"/>
          </a:solidFill>
          <a:ln w="12700">
            <a:solidFill>
              <a:srgbClr val="D8EEF1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401,059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lesion rows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1243584"/>
            <a:ext cx="1691640" cy="914400"/>
          </a:xfrm>
          <a:prstGeom prst="roundRect">
            <a:avLst/>
          </a:prstGeom>
          <a:solidFill>
            <a:srgbClr val="EFE2C7"/>
          </a:solidFill>
          <a:ln w="12700">
            <a:solidFill>
              <a:srgbClr val="EFE2C7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1,042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1783080" cy="914400"/>
          </a:xfrm>
          <a:prstGeom prst="roundRect">
            <a:avLst/>
          </a:prstGeom>
          <a:solidFill>
            <a:srgbClr val="F6D8CB"/>
          </a:solidFill>
          <a:ln w="12700">
            <a:solidFill>
              <a:srgbClr val="F6D8CB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4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393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malignant rows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1691640" cy="914400"/>
          </a:xfrm>
          <a:prstGeom prst="roundRect">
            <a:avLst/>
          </a:prstGeom>
          <a:solidFill>
            <a:srgbClr val="DDEAD9"/>
          </a:solidFill>
          <a:ln w="12700">
            <a:solidFill>
              <a:srgbClr val="DDEAD9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4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259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patients with malignant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419856"/>
            <a:ext cx="36576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286" tIns="2286" rIns="2286" bIns="2286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 structure</a:t>
            </a:r>
            <a:endParaRPr lang="en-US" sz="1350" b="1" dirty="0"/>
          </a:p>
          <a:p>
            <a:r>
              <a:rPr lang="en-US" altLang="ko-KR" sz="12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</a:t>
            </a:r>
            <a:r>
              <a:rPr lang="en-US" sz="12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241.5 rows  </a:t>
            </a:r>
          </a:p>
          <a:p>
            <a:r>
              <a:rPr lang="en-US" altLang="ko-KR" sz="12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 · 최대 9,184 rows</a:t>
            </a:r>
            <a:endParaRPr lang="en-US" sz="1200" dirty="0"/>
          </a:p>
          <a:p>
            <a:r>
              <a:rPr lang="en-US" altLang="ko-KR" sz="12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258/259 malignant patients가 benign와 malignant를 함께 보유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4754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row-level positive ratio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4672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4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0.098%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9808" y="5010912"/>
            <a:ext cx="3639312" cy="256032"/>
          </a:xfrm>
          <a:prstGeom prst="roundRect">
            <a:avLst/>
          </a:prstGeom>
          <a:solidFill>
            <a:srgbClr val="E8EEF1"/>
          </a:solidFill>
          <a:ln w="12700">
            <a:solidFill>
              <a:srgbClr val="E8EE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5010912"/>
            <a:ext cx="18288" cy="256032"/>
          </a:xfrm>
          <a:prstGeom prst="roundRect">
            <a:avLst/>
          </a:prstGeom>
          <a:solidFill>
            <a:srgbClr val="C94F4F"/>
          </a:solidFill>
          <a:ln w="12700">
            <a:solidFill>
              <a:srgbClr val="C94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3218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393 positive vs 400,666 negative</a:t>
            </a:r>
            <a:endParaRPr lang="en-US" sz="900" dirty="0"/>
          </a:p>
        </p:txBody>
      </p:sp>
      <p:pic>
        <p:nvPicPr>
          <p:cNvPr id="20" name="Image 0" descr="/mnt/data/assets_fig1_slice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68229"/>
            <a:ext cx="6766560" cy="381298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37960" y="5623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3D-TBP → lesion tile → dermoscopic image 예시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4/25</a:t>
            </a:r>
            <a:endParaRPr lang="en-US" sz="9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ACC4C38-D0A9-6D31-3AB8-1B2BD3066DE2}"/>
              </a:ext>
            </a:extLst>
          </p:cNvPr>
          <p:cNvSpPr/>
          <p:nvPr/>
        </p:nvSpPr>
        <p:spPr>
          <a:xfrm>
            <a:off x="731520" y="5592073"/>
            <a:ext cx="2110975" cy="37387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032" tIns="2032" rIns="2032" bIns="2032" rtlCol="0" anchor="ctr"/>
          <a:lstStyle/>
          <a:p>
            <a:pPr marL="0" indent="0" algn="ctr">
              <a:buNone/>
            </a:pPr>
            <a:r>
              <a:rPr lang="ko-KR" altLang="en-US" sz="13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소수의 환자에 양성 집중 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질문과 핵심 기여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배치 가능성과 train-time privileged information 활용을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분리해서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10652760" cy="1005840"/>
          </a:xfrm>
          <a:prstGeom prst="roundRect">
            <a:avLst/>
          </a:prstGeom>
          <a:solidFill>
            <a:srgbClr val="EDF6F7"/>
          </a:solidFill>
          <a:ln w="13970">
            <a:solidFill>
              <a:srgbClr val="EDF6F7"/>
            </a:solidFill>
          </a:ln>
        </p:spPr>
        <p:txBody>
          <a:bodyPr wrap="square" lIns="2794" tIns="2794" rIns="2794" bIns="2794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</a:t>
            </a:r>
            <a:r>
              <a:rPr lang="en-US" sz="19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시점에 없는 iddx_full을 입력으로 넣지 않고, </a:t>
            </a:r>
          </a:p>
          <a:p>
            <a:pPr marL="0" indent="0" algn="l">
              <a:buNone/>
            </a:pPr>
            <a:r>
              <a:rPr lang="en-US" sz="19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단계의 </a:t>
            </a:r>
            <a:r>
              <a:rPr lang="en-US" sz="19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병리</a:t>
            </a: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</a:t>
            </a:r>
            <a:r>
              <a:rPr lang="en-US" sz="19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representation에</a:t>
            </a: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남길 수 </a:t>
            </a:r>
            <a:r>
              <a:rPr lang="en-US" sz="19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39" y="2743201"/>
            <a:ext cx="10652761" cy="685799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Strict multimodal contract</a:t>
            </a:r>
            <a:endParaRPr lang="en-US" sz="1600" u="sng" dirty="0"/>
          </a:p>
          <a:p>
            <a:r>
              <a:rPr lang="en-US" altLang="ko-KR" sz="16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 + strict_main_input(51)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만을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실제 배치 가능한 입력 조건을 명시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38" y="3767327"/>
            <a:ext cx="10634473" cy="68760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Auxiliary oracle</a:t>
            </a:r>
            <a:endParaRPr lang="en-US" sz="1600" u="sng" dirty="0"/>
          </a:p>
          <a:p>
            <a:r>
              <a:rPr lang="en-US" altLang="ko-KR" sz="16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프로토타입과 코사인 유사도 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판단 및 새로운 병리 추정 가능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39" y="4838708"/>
            <a:ext cx="10634471" cy="687600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600" b="1" u="sng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Correction for benign dominance</a:t>
            </a:r>
            <a:endParaRPr lang="en-US" sz="1600" u="sng" dirty="0"/>
          </a:p>
          <a:p>
            <a:r>
              <a:rPr lang="en-US" altLang="ko-KR" sz="16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F_base를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바로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버리지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않고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representation-level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correction으로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안정성과 calibration 개선 목표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연구 파이프라인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1–3에서 F_base를 만들고, Phase 4–5에서 privileged signal을 보조적으로 반영한 뒤, Phase 6에서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1600200" cy="658368"/>
          </a:xfrm>
          <a:prstGeom prst="chevron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600200" cy="658368"/>
          </a:xfrm>
          <a:prstGeom prst="chevron">
            <a:avLst/>
          </a:prstGeom>
          <a:solidFill>
            <a:srgbClr val="EFE2C7"/>
          </a:solidFill>
          <a:ln>
            <a:solidFill>
              <a:srgbClr val="EFE2C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1691640"/>
            <a:ext cx="1600200" cy="658368"/>
          </a:xfrm>
          <a:prstGeom prst="chevron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1600200" cy="658368"/>
          </a:xfrm>
          <a:prstGeom prst="chevron">
            <a:avLst/>
          </a:prstGeom>
          <a:solidFill>
            <a:srgbClr val="F6D8CB"/>
          </a:solidFill>
          <a:ln>
            <a:solidFill>
              <a:srgbClr val="F6D8C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33931" y="1691640"/>
            <a:ext cx="1768578" cy="658368"/>
          </a:xfrm>
          <a:prstGeom prst="chevron">
            <a:avLst/>
          </a:prstGeom>
          <a:solidFill>
            <a:srgbClr val="DDEAD9"/>
          </a:solidFill>
          <a:ln>
            <a:solidFill>
              <a:srgbClr val="DDEAD9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0" y="1691640"/>
            <a:ext cx="1600200" cy="658368"/>
          </a:xfrm>
          <a:prstGeom prst="chevron">
            <a:avLst/>
          </a:prstGeom>
          <a:solidFill>
            <a:srgbClr val="F4E8B7"/>
          </a:solidFill>
          <a:ln>
            <a:solidFill>
              <a:srgbClr val="F4E8B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23774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lesion image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strict_main_input</a:t>
            </a: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(51)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patient-level split spec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214884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representation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encoder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FT-Transformer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cross-attention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F_base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834640"/>
            <a:ext cx="2377440" cy="214884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Auxiliary oracle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altLang="ko-KR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Representation </a:t>
            </a:r>
            <a:r>
              <a:rPr lang="ko-KR" alt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altLang="ko-KR" sz="14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Auxiliary Oracle </a:t>
            </a:r>
            <a:r>
              <a:rPr lang="en-US" sz="14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Aligment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oracle loss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0" y="2834640"/>
            <a:ext cx="2377440" cy="2148840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decision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 Head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prototype-weighted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F_final → malignancy score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54680" y="3922776"/>
            <a:ext cx="21031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0720" y="3922776"/>
            <a:ext cx="21031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66760" y="3922776"/>
            <a:ext cx="21031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| 데이터 정의 및 split 전략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row-level이 아니라 patient-level independent split을 전제로, malignant burden과 lesion burden을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243584"/>
            <a:ext cx="1828800" cy="868680"/>
          </a:xfrm>
          <a:prstGeom prst="roundRect">
            <a:avLst/>
          </a:prstGeom>
          <a:solidFill>
            <a:srgbClr val="F6D8CB"/>
          </a:solidFill>
          <a:ln w="12700">
            <a:solidFill>
              <a:srgbClr val="F6D8CB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4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259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patients with malignant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24912" y="1243584"/>
            <a:ext cx="1874520" cy="868680"/>
          </a:xfrm>
          <a:prstGeom prst="roundRect">
            <a:avLst/>
          </a:prstGeom>
          <a:solidFill>
            <a:srgbClr val="EFE2C7"/>
          </a:solidFill>
          <a:ln w="12700">
            <a:solidFill>
              <a:srgbClr val="EFE2C7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4F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258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mixed-class patients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1243584"/>
            <a:ext cx="1691640" cy="868680"/>
          </a:xfrm>
          <a:prstGeom prst="roundRect">
            <a:avLst/>
          </a:prstGeom>
          <a:solidFill>
            <a:srgbClr val="D8EEF1"/>
          </a:solidFill>
          <a:ln w="12700">
            <a:solidFill>
              <a:srgbClr val="D8EEF1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9,184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rows / patient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9808" y="2240280"/>
            <a:ext cx="3108960" cy="3227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patient-level인가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환자의 benign / malignant가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split에 흩어지면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lesion generalization보다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 fingerprint를 재식별할 수 있다.</a:t>
            </a:r>
            <a:endParaRPr lang="en-US" sz="1400" dirty="0"/>
          </a:p>
          <a:p>
            <a:r>
              <a:rPr lang="ko-KR" altLang="en-US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“아</a:t>
            </a:r>
            <a:r>
              <a:rPr lang="en-US" altLang="ko-KR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이 </a:t>
            </a:r>
            <a:r>
              <a:rPr lang="ko-KR" altLang="en-US" sz="110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피부톤</a:t>
            </a:r>
            <a:r>
              <a:rPr lang="en-US" altLang="ko-KR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촬영스타일</a:t>
            </a:r>
            <a:r>
              <a:rPr lang="en-US" altLang="ko-KR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특징은 환자 </a:t>
            </a:r>
            <a:r>
              <a:rPr lang="en-US" altLang="ko-KR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A</a:t>
            </a:r>
            <a:r>
              <a:rPr lang="ko-KR" altLang="en-US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네 → 그럼 </a:t>
            </a:r>
            <a:r>
              <a:rPr lang="en-US" altLang="ko-KR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malignant</a:t>
            </a:r>
            <a:r>
              <a:rPr lang="ko-KR" altLang="en-US" sz="11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일 가능성 높음”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기본 단위는 patient_id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2194560"/>
            <a:ext cx="2743200" cy="658368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Triple stratification keys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60520" y="3017520"/>
            <a:ext cx="822960" cy="1280160"/>
          </a:xfrm>
          <a:prstGeom prst="roundRect">
            <a:avLst/>
          </a:prstGeom>
          <a:solidFill>
            <a:srgbClr val="EDF6F7"/>
          </a:solidFill>
          <a:ln w="13970">
            <a:solidFill>
              <a:srgbClr val="D4DDD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환자단위 악성 보유 여부</a:t>
            </a:r>
            <a:endParaRPr lang="en-US" altLang="ko-KR" sz="11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Malignant)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3017520"/>
            <a:ext cx="822960" cy="128016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D4DDD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ko-KR" altLang="en-US" sz="11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</a:t>
            </a:r>
            <a:r>
              <a:rPr lang="ko-KR" alt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악성 병변</a:t>
            </a:r>
            <a:endParaRPr lang="en-US" sz="11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(positive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Burden)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35624" y="3017520"/>
            <a:ext cx="822960" cy="1280160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D4DDD8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ko-KR" altLang="en-US" sz="11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</a:t>
            </a:r>
            <a:r>
              <a:rPr lang="ko-KR" alt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병변 수 규모</a:t>
            </a:r>
            <a:endParaRPr lang="en-US" sz="11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Volume)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59168" y="3657600"/>
            <a:ext cx="457200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635240" y="3017520"/>
            <a:ext cx="3063240" cy="1280160"/>
          </a:xfrm>
          <a:prstGeom prst="roundRect">
            <a:avLst/>
          </a:prstGeom>
          <a:solidFill>
            <a:srgbClr val="E8EEF1"/>
          </a:solidFill>
          <a:ln w="13970">
            <a:solidFill>
              <a:srgbClr val="E8EEF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Outer 5-fold evaluation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fold 내부 train / validation 분리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160520" y="4315968"/>
            <a:ext cx="6537960" cy="11521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286" tIns="2286" rIns="2286" bIns="2286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Fold-local fitting 원칙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전처리, feature engineering, TF-IDF vocabulary, SVD basis, K-means centroid는 각 outer-fold train split </a:t>
            </a:r>
            <a:r>
              <a:rPr lang="en-US" sz="145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안에서만</a:t>
            </a:r>
            <a:r>
              <a:rPr lang="en-US" sz="145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7/25</a:t>
            </a:r>
            <a:endParaRPr lang="en-US" sz="9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917F5514-9058-210A-D9F1-896F886CC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807644"/>
              </p:ext>
            </p:extLst>
          </p:nvPr>
        </p:nvGraphicFramePr>
        <p:xfrm>
          <a:off x="7007852" y="1138428"/>
          <a:ext cx="4318015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66">
                  <a:extLst>
                    <a:ext uri="{9D8B030D-6E8A-4147-A177-3AD203B41FA5}">
                      <a16:colId xmlns:a16="http://schemas.microsoft.com/office/drawing/2014/main" val="2885775821"/>
                    </a:ext>
                  </a:extLst>
                </a:gridCol>
                <a:gridCol w="567975">
                  <a:extLst>
                    <a:ext uri="{9D8B030D-6E8A-4147-A177-3AD203B41FA5}">
                      <a16:colId xmlns:a16="http://schemas.microsoft.com/office/drawing/2014/main" val="537187133"/>
                    </a:ext>
                  </a:extLst>
                </a:gridCol>
                <a:gridCol w="636455">
                  <a:extLst>
                    <a:ext uri="{9D8B030D-6E8A-4147-A177-3AD203B41FA5}">
                      <a16:colId xmlns:a16="http://schemas.microsoft.com/office/drawing/2014/main" val="1132754360"/>
                    </a:ext>
                  </a:extLst>
                </a:gridCol>
                <a:gridCol w="656596">
                  <a:extLst>
                    <a:ext uri="{9D8B030D-6E8A-4147-A177-3AD203B41FA5}">
                      <a16:colId xmlns:a16="http://schemas.microsoft.com/office/drawing/2014/main" val="1719036287"/>
                    </a:ext>
                  </a:extLst>
                </a:gridCol>
                <a:gridCol w="725075">
                  <a:extLst>
                    <a:ext uri="{9D8B030D-6E8A-4147-A177-3AD203B41FA5}">
                      <a16:colId xmlns:a16="http://schemas.microsoft.com/office/drawing/2014/main" val="2107160428"/>
                    </a:ext>
                  </a:extLst>
                </a:gridCol>
                <a:gridCol w="554410">
                  <a:extLst>
                    <a:ext uri="{9D8B030D-6E8A-4147-A177-3AD203B41FA5}">
                      <a16:colId xmlns:a16="http://schemas.microsoft.com/office/drawing/2014/main" val="645455271"/>
                    </a:ext>
                  </a:extLst>
                </a:gridCol>
                <a:gridCol w="663238">
                  <a:extLst>
                    <a:ext uri="{9D8B030D-6E8A-4147-A177-3AD203B41FA5}">
                      <a16:colId xmlns:a16="http://schemas.microsoft.com/office/drawing/2014/main" val="2280241616"/>
                    </a:ext>
                  </a:extLst>
                </a:gridCol>
              </a:tblGrid>
              <a:tr h="625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 outer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fold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 rows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 </a:t>
                      </a:r>
                      <a:r>
                        <a:rPr lang="en-US" altLang="ko-KR" sz="900" dirty="0" err="1"/>
                        <a:t>positive_rows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# patients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 </a:t>
                      </a:r>
                      <a:r>
                        <a:rPr lang="en-US" altLang="ko-KR" sz="900" dirty="0" err="1"/>
                        <a:t>positive_patients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 </a:t>
                      </a:r>
                      <a:r>
                        <a:rPr lang="en-US" altLang="ko-KR" sz="900" dirty="0" err="1"/>
                        <a:t>target_positive_pct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 err="1"/>
                        <a:t>positive_patient_ratio_pct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347440"/>
                  </a:ext>
                </a:extLst>
              </a:tr>
              <a:tr h="183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78241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69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209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52</a:t>
                      </a:r>
                      <a:endParaRPr lang="ko-KR" altLang="en-US" sz="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0.0882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24.8804</a:t>
                      </a:r>
                      <a:endParaRPr lang="ko-KR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728989"/>
                  </a:ext>
                </a:extLst>
              </a:tr>
              <a:tr h="183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77560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76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209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52</a:t>
                      </a:r>
                      <a:endParaRPr lang="ko-KR" altLang="en-US" sz="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0.098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24.8804</a:t>
                      </a:r>
                      <a:endParaRPr lang="ko-KR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11301"/>
                  </a:ext>
                </a:extLst>
              </a:tr>
              <a:tr h="183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75886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71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208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51</a:t>
                      </a:r>
                      <a:endParaRPr lang="ko-KR" altLang="en-US" sz="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0.0936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24.5192</a:t>
                      </a:r>
                      <a:endParaRPr lang="ko-KR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463802"/>
                  </a:ext>
                </a:extLst>
              </a:tr>
              <a:tr h="183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92970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92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208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52</a:t>
                      </a:r>
                      <a:endParaRPr lang="ko-KR" altLang="en-US" sz="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0.099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25.0</a:t>
                      </a:r>
                      <a:endParaRPr lang="ko-KR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627204"/>
                  </a:ext>
                </a:extLst>
              </a:tr>
              <a:tr h="183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76402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85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208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52</a:t>
                      </a:r>
                      <a:endParaRPr lang="ko-KR" altLang="en-US" sz="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0.1113</a:t>
                      </a:r>
                      <a:endParaRPr lang="ko-KR" alt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25.0</a:t>
                      </a:r>
                      <a:endParaRPr lang="ko-KR" altLang="en-US" sz="9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9593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FA89-0E84-CED9-7881-FBCDE699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08FF61-B5FD-FD25-192B-887461843C73}"/>
              </a:ext>
            </a:extLst>
          </p:cNvPr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| Strict 입력 구성과 전처리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A85227-0463-8DA4-1FF1-0C9CBD21728E}"/>
              </a:ext>
            </a:extLst>
          </p:cNvPr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tabular 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strict_base 40 + strict_fe 11 =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strict_main_input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51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E970FF-F147-241C-4890-A4ABBFE3401B}"/>
              </a:ext>
            </a:extLst>
          </p:cNvPr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09B660-97AB-60C1-83A1-0A6CD33C12A3}"/>
              </a:ext>
            </a:extLst>
          </p:cNvPr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182B5D-D9BE-EB54-F150-2001A07AC395}"/>
              </a:ext>
            </a:extLst>
          </p:cNvPr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F393AA-1498-FD22-27BE-629D51CB8CCF}"/>
              </a:ext>
            </a:extLst>
          </p:cNvPr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1B35AC-5204-6C54-3A4F-DD3A8493CB50}"/>
              </a:ext>
            </a:extLst>
          </p:cNvPr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37D647-EF15-7E53-90A4-B4441B63F38C}"/>
              </a:ext>
            </a:extLst>
          </p:cNvPr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1F1900-652F-3907-4EFE-21330F822E3F}"/>
              </a:ext>
            </a:extLst>
          </p:cNvPr>
          <p:cNvSpPr/>
          <p:nvPr/>
        </p:nvSpPr>
        <p:spPr>
          <a:xfrm>
            <a:off x="749808" y="1243584"/>
            <a:ext cx="3931920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X_strict
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E5D799-CD38-4049-C20C-B0FE2B22A08E}"/>
              </a:ext>
            </a:extLst>
          </p:cNvPr>
          <p:cNvSpPr/>
          <p:nvPr/>
        </p:nvSpPr>
        <p:spPr>
          <a:xfrm>
            <a:off x="960120" y="1874520"/>
            <a:ext cx="1600200" cy="841248"/>
          </a:xfrm>
          <a:prstGeom prst="roundRect">
            <a:avLst/>
          </a:prstGeom>
          <a:solidFill>
            <a:srgbClr val="D8EEF1"/>
          </a:solidFill>
          <a:ln w="12700">
            <a:solidFill>
              <a:srgbClr val="D8EEF1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numeric raw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69522-454F-E9ED-EC32-A6931E3C5766}"/>
              </a:ext>
            </a:extLst>
          </p:cNvPr>
          <p:cNvSpPr/>
          <p:nvPr/>
        </p:nvSpPr>
        <p:spPr>
          <a:xfrm>
            <a:off x="2697480" y="1874520"/>
            <a:ext cx="1508760" cy="841248"/>
          </a:xfrm>
          <a:prstGeom prst="roundRect">
            <a:avLst/>
          </a:prstGeom>
          <a:solidFill>
            <a:srgbClr val="EFE2C7"/>
          </a:solidFill>
          <a:ln w="12700">
            <a:solidFill>
              <a:srgbClr val="EFE2C7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categorical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BB4B775-2D4E-25B2-9D98-E86FA899D54E}"/>
              </a:ext>
            </a:extLst>
          </p:cNvPr>
          <p:cNvSpPr/>
          <p:nvPr/>
        </p:nvSpPr>
        <p:spPr>
          <a:xfrm>
            <a:off x="960120" y="2907792"/>
            <a:ext cx="1600200" cy="841248"/>
          </a:xfrm>
          <a:prstGeom prst="roundRect">
            <a:avLst/>
          </a:prstGeom>
          <a:solidFill>
            <a:srgbClr val="E8EEF1"/>
          </a:solidFill>
          <a:ln w="12700">
            <a:solidFill>
              <a:srgbClr val="E8EEF1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missing indicator</a:t>
            </a: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A3F8C8D-18CC-9631-1420-FA5339ADCA90}"/>
              </a:ext>
            </a:extLst>
          </p:cNvPr>
          <p:cNvSpPr/>
          <p:nvPr/>
        </p:nvSpPr>
        <p:spPr>
          <a:xfrm>
            <a:off x="2697480" y="2907792"/>
            <a:ext cx="1508760" cy="841248"/>
          </a:xfrm>
          <a:prstGeom prst="roundRect">
            <a:avLst/>
          </a:prstGeom>
          <a:solidFill>
            <a:srgbClr val="F6D8CB"/>
          </a:solidFill>
          <a:ln w="12700">
            <a:solidFill>
              <a:srgbClr val="F6D8CB"/>
            </a:solidFill>
          </a:ln>
        </p:spPr>
        <p:txBody>
          <a:bodyPr wrap="square" lIns="2032" tIns="2032" rIns="2032" bIns="2032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
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engineered FE</a:t>
            </a:r>
            <a:endParaRPr lang="en-US" sz="2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01A1B5-D24D-5FA7-417A-11422476763E}"/>
              </a:ext>
            </a:extLst>
          </p:cNvPr>
          <p:cNvSpPr/>
          <p:nvPr/>
        </p:nvSpPr>
        <p:spPr>
          <a:xfrm>
            <a:off x="10058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strict_base 40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A29A954-2063-FCE8-EAD8-8F7EB714B4A6}"/>
              </a:ext>
            </a:extLst>
          </p:cNvPr>
          <p:cNvSpPr/>
          <p:nvPr/>
        </p:nvSpPr>
        <p:spPr>
          <a:xfrm>
            <a:off x="27889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8B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strict_fe 11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664CD3B-279D-4D4D-523F-A326502D855D}"/>
              </a:ext>
            </a:extLst>
          </p:cNvPr>
          <p:cNvSpPr/>
          <p:nvPr/>
        </p:nvSpPr>
        <p:spPr>
          <a:xfrm>
            <a:off x="960120" y="4681728"/>
            <a:ext cx="3246120" cy="320040"/>
          </a:xfrm>
          <a:prstGeom prst="roundRect">
            <a:avLst/>
          </a:prstGeom>
          <a:solidFill>
            <a:srgbClr val="083C45"/>
          </a:solidFill>
          <a:ln>
            <a:solidFill>
              <a:srgbClr val="083C4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strict_main_input = 51</a:t>
            </a:r>
            <a:endParaRPr lang="en-US" sz="1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1F01D5-97CE-077A-BA98-71F944B90239}"/>
              </a:ext>
            </a:extLst>
          </p:cNvPr>
          <p:cNvSpPr/>
          <p:nvPr/>
        </p:nvSpPr>
        <p:spPr>
          <a:xfrm>
            <a:off x="4983480" y="1243584"/>
            <a:ext cx="6510528" cy="1664208"/>
          </a:xfrm>
          <a:prstGeom prst="roundRect">
            <a:avLst/>
          </a:prstGeom>
          <a:solidFill>
            <a:srgbClr val="EDF6F7"/>
          </a:solidFill>
          <a:ln w="13970">
            <a:solidFill>
              <a:srgbClr val="EDF6F7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규칙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수치형: train median imputation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범주형 결측: "Missing" </a:t>
            </a:r>
            <a:r>
              <a:rPr lang="en-US" sz="155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</a:t>
            </a: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</a:t>
            </a: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log1p / robust scaling은 train 기준으로만 판단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validation / test에는 적합된 변환만 적용</a:t>
            </a:r>
            <a:endParaRPr lang="en-US" sz="15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FB6409C-61F5-8C91-E5B7-1AE8DE4BF398}"/>
              </a:ext>
            </a:extLst>
          </p:cNvPr>
          <p:cNvSpPr/>
          <p:nvPr/>
        </p:nvSpPr>
        <p:spPr>
          <a:xfrm>
            <a:off x="4983480" y="3083462"/>
            <a:ext cx="6510528" cy="1095345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제외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iddx_1~5, lesion_id, mel_*, tbp_lv_dnn_lesion_confidence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시점에 불안정하거나 사후적 의미가 강한 정보는 메인 입력에서 제외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1596970-595F-6CF6-F08C-96D3B2DBCDEC}"/>
              </a:ext>
            </a:extLst>
          </p:cNvPr>
          <p:cNvSpPr/>
          <p:nvPr/>
        </p:nvSpPr>
        <p:spPr>
          <a:xfrm>
            <a:off x="4983480" y="4354478"/>
            <a:ext cx="6510528" cy="109534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strictness는 feature engineering 이후에도 유지되어야 하며,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파생 변수는 inference 시점에도 계산 가능해야 한다.</a:t>
            </a:r>
            <a:endParaRPr 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CBF59F1-93DF-A7AE-CC38-8D7614858A22}"/>
              </a:ext>
            </a:extLst>
          </p:cNvPr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F351AC6-57E2-1B24-ED89-890E91BFD621}"/>
              </a:ext>
            </a:extLst>
          </p:cNvPr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ACCC395-865C-66BC-B5BE-A1B0FCA25AD0}"/>
              </a:ext>
            </a:extLst>
          </p:cNvPr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9904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| EDA &amp; Feature Engineering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용어를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넣지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않고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strict metadata에서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proxy feature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family로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243584"/>
            <a:ext cx="2057400" cy="114300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286" tIns="2286" rIns="2286" bIns="2286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ABCD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Asymmetry · Border · Color · Diameter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49808" y="2651760"/>
            <a:ext cx="2057400" cy="114300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286" tIns="2286" rIns="2286" bIns="2286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CASH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· Architecture · Symmetry · Homogeneity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9808" y="3931920"/>
            <a:ext cx="2057400" cy="1143000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286" tIns="2286" rIns="2286" bIns="2286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DermNet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 · Contrast · Heterogeneity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9808" y="5212080"/>
            <a:ext cx="2057400" cy="1005840"/>
          </a:xfrm>
          <a:prstGeom prst="roundRect">
            <a:avLst/>
          </a:prstGeom>
          <a:solidFill>
            <a:srgbClr val="DDEAD9"/>
          </a:solidFill>
          <a:ln w="13970">
            <a:solidFill>
              <a:srgbClr val="DDEAD9"/>
            </a:solidFill>
          </a:ln>
        </p:spPr>
        <p:txBody>
          <a:bodyPr wrap="square" lIns="2286" tIns="2286" rIns="2286" bIns="2286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SLICE-3D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 context · Size · Body location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5029200" cy="640080"/>
          </a:xfrm>
          <a:prstGeom prst="chevron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wide candidates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4389120" cy="640080"/>
          </a:xfrm>
          <a:prstGeom prst="chevron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screen pass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3611880"/>
            <a:ext cx="3657600" cy="640080"/>
          </a:xfrm>
          <a:prstGeom prst="chevron">
            <a:avLst/>
          </a:prstGeom>
          <a:solidFill>
            <a:srgbClr val="EFE2C7"/>
          </a:solidFill>
          <a:ln>
            <a:solidFill>
              <a:srgbClr val="EFE2C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secondary selection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97680" y="4617720"/>
            <a:ext cx="2926080" cy="640080"/>
          </a:xfrm>
          <a:prstGeom prst="chevron">
            <a:avLst/>
          </a:prstGeom>
          <a:solidFill>
            <a:srgbClr val="F08B67"/>
          </a:solidFill>
          <a:ln>
            <a:solidFill>
              <a:srgbClr val="F08B6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final strict FE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41080" y="1572768"/>
            <a:ext cx="2834640" cy="3685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원칙</a:t>
            </a:r>
            <a:endParaRPr lang="en-US" sz="16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|std diff|가 너무 약한 후보 제외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base feature와 거의 같은 후보 제외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family cap으로 과다 채택 방지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후보-후보 고상관 제거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VIF / PCA 재점검 뒤 최종 11개만 유지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| 문헌 축을 strict proxy로 번역한 방식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점수표를 그대로 복제하지 않고, 현재 메타데이터에서 직접 계산 가능한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proxy만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243583"/>
            <a:ext cx="5257800" cy="2341509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ABCD / CASH 축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asymmetry → symm_2axis</a:t>
            </a: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border irregularity → norm_border</a:t>
            </a: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color variation → norm_color, color_std_mean</a:t>
            </a: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diameter / size → long_diam, areaMM2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proxy: border × color, architecture proxy sum, color variation total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6190488" y="1243584"/>
            <a:ext cx="5257800" cy="2341508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DermNet / SLICE-3D 축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hue / contrast / heterogeneity → H/Hext, deltaL/A/B, stdL</a:t>
            </a: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spatial context → x, y, z, long_diam, age_approx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proxy: hue_color_coupling, chroma_normalized_gap, vertical_size_interaction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749808" y="3721611"/>
            <a:ext cx="10692384" cy="812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Representative formulas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border × color = norm_border × norm_color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variation = color_std + radial + stdL + stdLExt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4659413"/>
            <a:ext cx="10692384" cy="812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Representative formulas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 coupling = circular_abs_diff(H,Hext) × norm_color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size–shape = areaMM2 × eccentricity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7616" y="5641770"/>
            <a:ext cx="10698480" cy="652324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문헌에서 말하는 진단 언어를 “strict tabular에서 계산 가능한 설명 </a:t>
            </a:r>
            <a:r>
              <a:rPr lang="en-US" sz="15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변수”로</a:t>
            </a: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| 최종 strict FE 11개 선택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 cap과 overlap pruning, VIF / PCA 재점검 뒤 실제 모델 입력으로 남긴 engineered feature만 유지한다.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243584"/>
            <a:ext cx="278892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 composition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0704" y="3575304"/>
            <a:ext cx="310896" cy="1316736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2826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5102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572768" y="3575304"/>
            <a:ext cx="310896" cy="1316736"/>
          </a:xfrm>
          <a:prstGeom prst="rect">
            <a:avLst/>
          </a:prstGeom>
          <a:solidFill>
            <a:srgbClr val="F08B67"/>
          </a:solidFill>
          <a:ln w="12700">
            <a:solidFill>
              <a:srgbClr val="F08B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32826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0472" y="5102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2084832" y="3575304"/>
            <a:ext cx="310896" cy="1316736"/>
          </a:xfrm>
          <a:prstGeom prst="rect">
            <a:avLst/>
          </a:prstGeom>
          <a:solidFill>
            <a:srgbClr val="D9B56D"/>
          </a:solidFill>
          <a:ln w="12700">
            <a:solidFill>
              <a:srgbClr val="D9B5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32826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02536" y="5102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596896" y="4453128"/>
            <a:ext cx="310896" cy="438912"/>
          </a:xfrm>
          <a:prstGeom prst="rect">
            <a:avLst/>
          </a:prstGeom>
          <a:solidFill>
            <a:srgbClr val="DDEAD9"/>
          </a:solidFill>
          <a:ln w="12700">
            <a:solidFill>
              <a:srgbClr val="DDEA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9464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5102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3108960" y="4453128"/>
            <a:ext cx="310896" cy="438912"/>
          </a:xfrm>
          <a:prstGeom prst="rect">
            <a:avLst/>
          </a:prstGeom>
          <a:solidFill>
            <a:srgbClr val="8DB7C6"/>
          </a:solidFill>
          <a:ln w="12700">
            <a:solidFill>
              <a:srgbClr val="8DB7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26664" y="510235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840480" y="1243584"/>
            <a:ext cx="3749040" cy="429768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 features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feat_border_color_interaction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feat_architecture_proxy_sum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feat_border_contrast_interaction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feat_hue_color_coupling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feat_chroma_normalized_gap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feat_color_variation_total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18120" y="1243584"/>
            <a:ext cx="3611880" cy="429768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 features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geometry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feat_diameter_color_coupling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feat_area_eccentricity_coupling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feat_long_minor_difference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/ spatial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feat_age_size_interaction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feat_vertical_size_interaction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9">
                <a:extLst>
                  <a:ext uri="{FF2B5EF4-FFF2-40B4-BE49-F238E27FC236}">
                    <a16:creationId xmlns:a16="http://schemas.microsoft.com/office/drawing/2014/main" id="{30DC7DF3-A641-AAFC-32DF-C0EF34450A33}"/>
                  </a:ext>
                </a:extLst>
              </p:cNvPr>
              <p:cNvSpPr/>
              <p:nvPr/>
            </p:nvSpPr>
            <p:spPr>
              <a:xfrm>
                <a:off x="657804" y="1362456"/>
                <a:ext cx="10726476" cy="1388799"/>
              </a:xfrm>
              <a:prstGeom prst="roundRect">
                <a:avLst/>
              </a:prstGeom>
              <a:solidFill>
                <a:srgbClr val="D8EEF1"/>
              </a:solidFill>
              <a:ln w="13970">
                <a:solidFill>
                  <a:srgbClr val="D8EEF1"/>
                </a:solidFill>
              </a:ln>
            </p:spPr>
            <p:txBody>
              <a:bodyPr wrap="square" lIns="1270" tIns="1270" rIns="1270" bIns="1270" rtlCol="0" anchor="t"/>
              <a:lstStyle/>
              <a:p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사전학습 된 의료 특화 언어모델 사용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텍스트 인코더 고정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(Frozen Text Encoder)</a:t>
                </a:r>
                <a:endParaRPr lang="en-US" altLang="ko-KR" sz="1400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b="1" dirty="0">
                        <a:solidFill>
                          <a:srgbClr val="083C45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rPr>
                      <m:t>→ 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𝟒𝟔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b="1" dirty="0">
                    <a:ea typeface="Cambria Math" panose="02040503050406030204" pitchFamily="18" charset="0"/>
                  </a:rPr>
                  <a:t> 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1" dirty="0">
                          <a:solidFill>
                            <a:srgbClr val="083C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ko-KR" sz="1400" b="1" i="0" dirty="0" smtClean="0">
                          <a:solidFill>
                            <a:srgbClr val="083C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m:t> </m:t>
                      </m:r>
                      <m:sSub>
                        <m:sSubPr>
                          <m:ctrlP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𝒕𝒆𝒙𝒕</m:t>
                          </m:r>
                        </m:sub>
                      </m:sSub>
                      <m:d>
                        <m:dPr>
                          <m:ctrlP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ko-K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altLang="ko-KR" sz="1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 9">
                <a:extLst>
                  <a:ext uri="{FF2B5EF4-FFF2-40B4-BE49-F238E27FC236}">
                    <a16:creationId xmlns:a16="http://schemas.microsoft.com/office/drawing/2014/main" id="{30DC7DF3-A641-AAFC-32DF-C0EF34450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4" y="1362456"/>
                <a:ext cx="10726476" cy="1388799"/>
              </a:xfrm>
              <a:prstGeom prst="roundRect">
                <a:avLst/>
              </a:prstGeom>
              <a:blipFill>
                <a:blip r:embed="rId3"/>
                <a:stretch>
                  <a:fillRect l="-341"/>
                </a:stretch>
              </a:blipFill>
              <a:ln w="13970">
                <a:solidFill>
                  <a:srgbClr val="D8EEF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2.5 | </a:t>
            </a:r>
            <a:r>
              <a:rPr lang="en-US" sz="2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Mixup</a:t>
            </a: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2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Orcale</a:t>
            </a:r>
            <a:r>
              <a:rPr lang="en-US" altLang="ko-KR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Anchor </a:t>
            </a:r>
            <a:r>
              <a:rPr lang="ko-KR" alt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특화 언어모델로 텍스트 </a:t>
            </a:r>
            <a:r>
              <a:rPr lang="ko-KR" alt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임베딩하여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벡터 생성 후 </a:t>
            </a:r>
            <a:r>
              <a:rPr lang="en-US" altLang="ko-KR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Mixup</a:t>
            </a:r>
            <a:r>
              <a:rPr lang="en-US" altLang="ko-KR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</a:t>
            </a:r>
            <a:r>
              <a:rPr lang="ko-KR" alt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초희소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증강 및 오라클 프로토타입 그룹 </a:t>
            </a:r>
            <a:r>
              <a:rPr lang="en-US" altLang="ko-KR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Anchor 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</a:rPr>
              <a:t>P3 Base</a:t>
            </a:r>
            <a:endParaRPr lang="en-US" sz="900" dirty="0">
              <a:solidFill>
                <a:srgbClr val="6D7C84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83949" y="2148357"/>
            <a:ext cx="1412688" cy="490496"/>
          </a:xfrm>
          <a:prstGeom prst="chevron">
            <a:avLst/>
          </a:prstGeom>
          <a:solidFill>
            <a:srgbClr val="EFE2C7"/>
          </a:solidFill>
          <a:ln>
            <a:solidFill>
              <a:srgbClr val="EFE2C7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altLang="ko-KR" sz="14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iddx_full</a:t>
            </a:r>
            <a:r>
              <a:rPr lang="en-US" altLang="ko-KR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정규화</a:t>
            </a:r>
            <a:endParaRPr lang="en-US" sz="14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12/25</a:t>
            </a:r>
            <a:endParaRPr lang="en-US" sz="9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C1459DD-CEDD-46A4-B806-9FDB75F61240}"/>
              </a:ext>
            </a:extLst>
          </p:cNvPr>
          <p:cNvSpPr/>
          <p:nvPr/>
        </p:nvSpPr>
        <p:spPr>
          <a:xfrm>
            <a:off x="4182769" y="850392"/>
            <a:ext cx="73153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5100C826-210B-3622-290E-F08757672A7A}"/>
              </a:ext>
            </a:extLst>
          </p:cNvPr>
          <p:cNvSpPr/>
          <p:nvPr/>
        </p:nvSpPr>
        <p:spPr>
          <a:xfrm>
            <a:off x="4763707" y="2148357"/>
            <a:ext cx="1550854" cy="490496"/>
          </a:xfrm>
          <a:prstGeom prst="chevron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altLang="ko-KR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tokenization</a:t>
            </a:r>
            <a:endParaRPr lang="en-US" sz="14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5D056D1-163C-8DD6-1355-D21FB0AD4FBB}"/>
              </a:ext>
            </a:extLst>
          </p:cNvPr>
          <p:cNvSpPr/>
          <p:nvPr/>
        </p:nvSpPr>
        <p:spPr>
          <a:xfrm>
            <a:off x="6176396" y="2148357"/>
            <a:ext cx="1721246" cy="490496"/>
          </a:xfrm>
          <a:prstGeom prst="chevron">
            <a:avLst/>
          </a:prstGeom>
          <a:solidFill>
            <a:srgbClr val="F6D8CB"/>
          </a:solidFill>
          <a:ln>
            <a:solidFill>
              <a:srgbClr val="F6D8CB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sz="1400" b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LM </a:t>
            </a:r>
            <a:r>
              <a:rPr lang="ko-KR" altLang="en-US" sz="1400" b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인코더</a:t>
            </a:r>
            <a:endParaRPr lang="en-US" altLang="ko-KR" sz="14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  <a:p>
            <a:pPr algn="ctr"/>
            <a:r>
              <a:rPr lang="en-US" sz="1400" b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ClinicalBERT</a:t>
            </a:r>
            <a:endParaRPr lang="en-US" sz="14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5DC967A8-2CC4-2D92-3FC7-671AE5DC15E8}"/>
              </a:ext>
            </a:extLst>
          </p:cNvPr>
          <p:cNvSpPr/>
          <p:nvPr/>
        </p:nvSpPr>
        <p:spPr>
          <a:xfrm>
            <a:off x="7756654" y="2148357"/>
            <a:ext cx="1844913" cy="490496"/>
          </a:xfrm>
          <a:prstGeom prst="chevron">
            <a:avLst/>
          </a:prstGeom>
          <a:solidFill>
            <a:srgbClr val="DDEAD9"/>
          </a:solidFill>
          <a:ln>
            <a:solidFill>
              <a:srgbClr val="DDEAD9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CLS token or </a:t>
            </a:r>
            <a:r>
              <a:rPr lang="ko-KR" alt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전체 </a:t>
            </a:r>
            <a:r>
              <a:rPr lang="en-US" altLang="ko-KR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token </a:t>
            </a:r>
            <a:r>
              <a:rPr lang="ko-KR" alt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평균</a:t>
            </a:r>
            <a:endParaRPr lang="en-US" sz="14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9">
                <a:extLst>
                  <a:ext uri="{FF2B5EF4-FFF2-40B4-BE49-F238E27FC236}">
                    <a16:creationId xmlns:a16="http://schemas.microsoft.com/office/drawing/2014/main" id="{D4B06801-C17B-B1DC-2E04-DFB666A913E0}"/>
                  </a:ext>
                </a:extLst>
              </p:cNvPr>
              <p:cNvSpPr/>
              <p:nvPr/>
            </p:nvSpPr>
            <p:spPr>
              <a:xfrm>
                <a:off x="9464609" y="2148357"/>
                <a:ext cx="1721246" cy="490496"/>
              </a:xfrm>
              <a:prstGeom prst="chevron">
                <a:avLst/>
              </a:prstGeom>
              <a:solidFill>
                <a:srgbClr val="F4E8B7"/>
              </a:solidFill>
              <a:ln>
                <a:solidFill>
                  <a:srgbClr val="F4E8B7"/>
                </a:solidFill>
              </a:ln>
            </p:spPr>
            <p:txBody>
              <a:bodyPr wrap="square" lIns="1016" tIns="1016" rIns="1016" bIns="1016" rtlCol="0" anchor="ctr"/>
              <a:lstStyle/>
              <a:p>
                <a:pPr algn="ctr"/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Dense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Vector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400" b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mc:Choice>
        <mc:Fallback xmlns="">
          <p:sp>
            <p:nvSpPr>
              <p:cNvPr id="33" name="Text 9">
                <a:extLst>
                  <a:ext uri="{FF2B5EF4-FFF2-40B4-BE49-F238E27FC236}">
                    <a16:creationId xmlns:a16="http://schemas.microsoft.com/office/drawing/2014/main" id="{D4B06801-C17B-B1DC-2E04-DFB666A91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4609" y="2148357"/>
                <a:ext cx="1721246" cy="490496"/>
              </a:xfrm>
              <a:prstGeom prst="chevron">
                <a:avLst/>
              </a:prstGeom>
              <a:blipFill>
                <a:blip r:embed="rId4"/>
                <a:stretch>
                  <a:fillRect t="-3614" b="-1205"/>
                </a:stretch>
              </a:blipFill>
              <a:ln>
                <a:solidFill>
                  <a:srgbClr val="F4E8B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9">
                <a:extLst>
                  <a:ext uri="{FF2B5EF4-FFF2-40B4-BE49-F238E27FC236}">
                    <a16:creationId xmlns:a16="http://schemas.microsoft.com/office/drawing/2014/main" id="{CA90BBF6-945F-1247-CD63-3A251EE45C72}"/>
                  </a:ext>
                </a:extLst>
              </p:cNvPr>
              <p:cNvSpPr/>
              <p:nvPr/>
            </p:nvSpPr>
            <p:spPr>
              <a:xfrm>
                <a:off x="657804" y="2913334"/>
                <a:ext cx="10726476" cy="1267932"/>
              </a:xfrm>
              <a:prstGeom prst="roundRect">
                <a:avLst/>
              </a:prstGeom>
              <a:solidFill>
                <a:srgbClr val="EFE2C7"/>
              </a:solidFill>
              <a:ln>
                <a:solidFill>
                  <a:srgbClr val="EFE2C7"/>
                </a:solidFill>
              </a:ln>
            </p:spPr>
            <p:txBody>
              <a:bodyPr wrap="square" lIns="1016" tIns="1016" rIns="1016" bIns="1016" rtlCol="0" anchor="ctr"/>
              <a:lstStyle/>
              <a:p>
                <a:r>
                  <a:rPr lang="en-US" altLang="ko-KR" sz="14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Mixup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malignant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와 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indeterminate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만 적용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, Benign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미적용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전체 데이터의 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50%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가 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malignant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와 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indeterminate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되도록 증강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1" dirty="0" smtClean="0">
                          <a:solidFill>
                            <a:srgbClr val="083C4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ko-KR" sz="1400" b="1" dirty="0">
                          <a:solidFill>
                            <a:srgbClr val="083C4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altLang="ko-KR" sz="140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acc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ko-KR" sz="140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ko-KR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40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</m:d>
                      <m:sSub>
                        <m:sSubPr>
                          <m:ctrlPr>
                            <a:rPr lang="en-US" altLang="ko-KR" sz="140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ko-KR" sz="1400" b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𝑩𝒆𝒕𝒂</m:t>
                      </m:r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ko-KR" sz="1400" b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mc:Choice>
        <mc:Fallback xmlns="">
          <p:sp>
            <p:nvSpPr>
              <p:cNvPr id="43" name="Text 9">
                <a:extLst>
                  <a:ext uri="{FF2B5EF4-FFF2-40B4-BE49-F238E27FC236}">
                    <a16:creationId xmlns:a16="http://schemas.microsoft.com/office/drawing/2014/main" id="{CA90BBF6-945F-1247-CD63-3A251EE45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04" y="2913334"/>
                <a:ext cx="10726476" cy="1267932"/>
              </a:xfrm>
              <a:prstGeom prst="roundRect">
                <a:avLst/>
              </a:prstGeom>
              <a:blipFill>
                <a:blip r:embed="rId5"/>
                <a:stretch>
                  <a:fillRect l="-397"/>
                </a:stretch>
              </a:blipFill>
              <a:ln>
                <a:solidFill>
                  <a:srgbClr val="EFE2C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9">
                <a:extLst>
                  <a:ext uri="{FF2B5EF4-FFF2-40B4-BE49-F238E27FC236}">
                    <a16:creationId xmlns:a16="http://schemas.microsoft.com/office/drawing/2014/main" id="{A63A8C37-082C-D782-C6AB-19673185D347}"/>
                  </a:ext>
                </a:extLst>
              </p:cNvPr>
              <p:cNvSpPr/>
              <p:nvPr/>
            </p:nvSpPr>
            <p:spPr>
              <a:xfrm>
                <a:off x="663982" y="4343344"/>
                <a:ext cx="10726476" cy="1469337"/>
              </a:xfrm>
              <a:prstGeom prst="roundRect">
                <a:avLst/>
              </a:prstGeom>
              <a:solidFill>
                <a:srgbClr val="E8EEF1"/>
              </a:solidFill>
              <a:ln>
                <a:solidFill>
                  <a:srgbClr val="E8EEF1"/>
                </a:solidFill>
              </a:ln>
            </p:spPr>
            <p:txBody>
              <a:bodyPr wrap="square" lIns="1016" tIns="1016" rIns="1016" bIns="1016" rtlCol="0" anchor="ctr"/>
              <a:lstStyle/>
              <a:p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오라클 프로토타입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(Anchor)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생성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악성 클래스를 대표하는 하나의 중심 </a:t>
                </a:r>
                <a:r>
                  <a:rPr lang="ko-KR" altLang="en-US" sz="14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백터인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프로토타입 생성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악성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그룹화하여 다수 프로토타입 생성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400" b="1" dirty="0">
                          <a:solidFill>
                            <a:srgbClr val="083C4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m:t>→</m:t>
                      </m:r>
                      <m:sSub>
                        <m:sSubPr>
                          <m:ctrlP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𝒌</m:t>
                          </m:r>
                        </m:sub>
                      </m:sSub>
                      <m:r>
                        <a:rPr lang="en-US" altLang="ko-KR" sz="1400" b="1" i="1" dirty="0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fPr>
                        <m:num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𝒉</m:t>
                          </m:r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𝒉</m:t>
                          </m:r>
                        </m:e>
                      </m:nary>
                      <m:r>
                        <a:rPr lang="en-US" altLang="ko-KR" sz="1400" b="1" i="1" dirty="0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, </m:t>
                      </m:r>
                      <m:acc>
                        <m:accPr>
                          <m:chr m:val="̂"/>
                          <m:ctrlPr>
                            <a:rPr lang="en-US" altLang="ko-KR" sz="1400" b="1" i="1" dirty="0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𝒌</m:t>
                              </m:r>
                            </m:sub>
                          </m:sSub>
                        </m:e>
                      </m:acc>
                      <m:r>
                        <a:rPr lang="en-US" altLang="ko-KR" sz="1400" b="1" i="1" dirty="0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ko-KR" sz="1400" b="1" i="1" dirty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fPr>
                        <m:num>
                          <m:r>
                            <a:rPr lang="en-US" altLang="ko-KR" sz="1400" b="1" i="1" dirty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sz="1400" b="1" i="1" dirty="0">
                                      <a:solidFill>
                                        <a:srgbClr val="083C45"/>
                                      </a:solidFill>
                                      <a:latin typeface="Cambria Math" panose="02040503050406030204" pitchFamily="18" charset="0"/>
                                      <a:ea typeface="Malgun Gothic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b="1" i="1" dirty="0">
                                          <a:solidFill>
                                            <a:srgbClr val="083C45"/>
                                          </a:solidFill>
                                          <a:latin typeface="Cambria Math" panose="02040503050406030204" pitchFamily="18" charset="0"/>
                                          <a:ea typeface="Malgun Gothic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b="1" i="1" dirty="0">
                                          <a:solidFill>
                                            <a:srgbClr val="083C45"/>
                                          </a:solidFill>
                                          <a:latin typeface="Cambria Math" panose="02040503050406030204" pitchFamily="18" charset="0"/>
                                          <a:ea typeface="Malgun Gothic" pitchFamily="34" charset="-122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US" altLang="ko-KR" sz="1400" b="1" i="1" dirty="0">
                                          <a:solidFill>
                                            <a:srgbClr val="083C45"/>
                                          </a:solidFill>
                                          <a:latin typeface="Cambria Math" panose="02040503050406030204" pitchFamily="18" charset="0"/>
                                          <a:ea typeface="Malgun Gothic" pitchFamily="34" charset="-122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altLang="ko-KR" sz="1400" b="1" i="1" dirty="0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mc:Choice>
        <mc:Fallback xmlns="">
          <p:sp>
            <p:nvSpPr>
              <p:cNvPr id="44" name="Text 9">
                <a:extLst>
                  <a:ext uri="{FF2B5EF4-FFF2-40B4-BE49-F238E27FC236}">
                    <a16:creationId xmlns:a16="http://schemas.microsoft.com/office/drawing/2014/main" id="{A63A8C37-082C-D782-C6AB-19673185D3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82" y="4343344"/>
                <a:ext cx="10726476" cy="1469337"/>
              </a:xfrm>
              <a:prstGeom prst="roundRect">
                <a:avLst/>
              </a:prstGeom>
              <a:blipFill>
                <a:blip r:embed="rId6"/>
                <a:stretch>
                  <a:fillRect l="-284" t="-820" b="-67623"/>
                </a:stretch>
              </a:blipFill>
              <a:ln>
                <a:solidFill>
                  <a:srgbClr val="E8EEF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0D11-AB21-086F-7638-C8F5CBF0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463520-DDE5-9E0D-88FD-7B48BD15FF23}"/>
              </a:ext>
            </a:extLst>
          </p:cNvPr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| Multimodal base model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27DBC6-632C-751F-D1D3-7C4DE6626AB3}"/>
              </a:ext>
            </a:extLst>
          </p:cNvPr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 encoder와 FT-Transformer tabular branch를 cross-attention으로 결합해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F_base를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형성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51D8F4-E24E-F25A-CFCF-674D16A5A9A2}"/>
              </a:ext>
            </a:extLst>
          </p:cNvPr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E5A402-3838-1A36-63E5-3211839A50FD}"/>
              </a:ext>
            </a:extLst>
          </p:cNvPr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025444-B5D3-8C28-F6C8-09248572EBFA}"/>
              </a:ext>
            </a:extLst>
          </p:cNvPr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CC1E272-D39F-CC3D-C0B9-274527B8C3FD}"/>
              </a:ext>
            </a:extLst>
          </p:cNvPr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3E169C-CB35-9FE2-0233-753A024A8AD0}"/>
              </a:ext>
            </a:extLst>
          </p:cNvPr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B6841A-A64F-8884-E4B1-EF5B1F614DAF}"/>
              </a:ext>
            </a:extLst>
          </p:cNvPr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pic>
        <p:nvPicPr>
          <p:cNvPr id="10" name="Image 0" descr="/mnt/data/assets_kaggle_ex_tiles.png">
            <a:extLst>
              <a:ext uri="{FF2B5EF4-FFF2-40B4-BE49-F238E27FC236}">
                <a16:creationId xmlns:a16="http://schemas.microsoft.com/office/drawing/2014/main" id="{A4CBE694-4EF5-E2BD-B252-17DA0C5E7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36" r="20436"/>
          <a:stretch/>
        </p:blipFill>
        <p:spPr>
          <a:xfrm>
            <a:off x="868680" y="1828800"/>
            <a:ext cx="2148840" cy="19659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7D6A89BB-8AC1-1522-160C-3BAB5005C06C}"/>
              </a:ext>
            </a:extLst>
          </p:cNvPr>
          <p:cNvSpPr/>
          <p:nvPr/>
        </p:nvSpPr>
        <p:spPr>
          <a:xfrm>
            <a:off x="960120" y="39593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lesion image input</a:t>
            </a:r>
            <a:endParaRPr lang="en-US" sz="9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71335E-204A-0BDF-0072-6AFC19930B26}"/>
              </a:ext>
            </a:extLst>
          </p:cNvPr>
          <p:cNvSpPr/>
          <p:nvPr/>
        </p:nvSpPr>
        <p:spPr>
          <a:xfrm>
            <a:off x="822960" y="4407408"/>
            <a:ext cx="2240280" cy="91440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tabular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features</a:t>
            </a: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55DB10C-BB25-B42B-0C64-46415B7D7457}"/>
              </a:ext>
            </a:extLst>
          </p:cNvPr>
          <p:cNvSpPr/>
          <p:nvPr/>
        </p:nvSpPr>
        <p:spPr>
          <a:xfrm>
            <a:off x="3611880" y="1920240"/>
            <a:ext cx="20116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encoder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 / CNN backbone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z_img</a:t>
            </a:r>
            <a:endParaRPr lang="en-US" sz="17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4400FCC-1BFA-69EC-91CC-73327EED7A46}"/>
              </a:ext>
            </a:extLst>
          </p:cNvPr>
          <p:cNvSpPr/>
          <p:nvPr/>
        </p:nvSpPr>
        <p:spPr>
          <a:xfrm>
            <a:off x="3611880" y="4187952"/>
            <a:ext cx="20116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FT-Transformer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tokenization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70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T_tab</a:t>
            </a:r>
            <a:endParaRPr lang="en-US" sz="17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941C198-3C9E-0411-3B37-A3F4A5A308A6}"/>
              </a:ext>
            </a:extLst>
          </p:cNvPr>
          <p:cNvSpPr/>
          <p:nvPr/>
        </p:nvSpPr>
        <p:spPr>
          <a:xfrm>
            <a:off x="3063240" y="2514600"/>
            <a:ext cx="502920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96CBA3F-3B0D-28F2-D7EC-C33564606BA7}"/>
              </a:ext>
            </a:extLst>
          </p:cNvPr>
          <p:cNvSpPr/>
          <p:nvPr/>
        </p:nvSpPr>
        <p:spPr>
          <a:xfrm>
            <a:off x="3063240" y="4828032"/>
            <a:ext cx="502920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BFB6238-3F21-7E48-5987-41AFE52887F9}"/>
              </a:ext>
            </a:extLst>
          </p:cNvPr>
          <p:cNvSpPr/>
          <p:nvPr/>
        </p:nvSpPr>
        <p:spPr>
          <a:xfrm>
            <a:off x="6144768" y="2606040"/>
            <a:ext cx="2423160" cy="205740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286" tIns="2286" rIns="2286" bIns="228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Cross-attention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Query: </a:t>
            </a: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z_img</a:t>
            </a:r>
            <a:endParaRPr lang="en-US" sz="17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key/value: </a:t>
            </a:r>
            <a:r>
              <a:rPr lang="en-US" sz="17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T_tab</a:t>
            </a:r>
            <a:endParaRPr lang="en-US" sz="17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F2F7062-83C4-70DA-0F53-2F4880942F11}"/>
              </a:ext>
            </a:extLst>
          </p:cNvPr>
          <p:cNvSpPr/>
          <p:nvPr/>
        </p:nvSpPr>
        <p:spPr>
          <a:xfrm>
            <a:off x="5650992" y="2514600"/>
            <a:ext cx="457200" cy="658368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E70EE20-A9DB-D881-932B-76F8CB963F90}"/>
              </a:ext>
            </a:extLst>
          </p:cNvPr>
          <p:cNvSpPr/>
          <p:nvPr/>
        </p:nvSpPr>
        <p:spPr>
          <a:xfrm flipV="1">
            <a:off x="5650992" y="3959352"/>
            <a:ext cx="457200" cy="841248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205412B-C4CB-73B5-9D64-12C3E3B15333}"/>
              </a:ext>
            </a:extLst>
          </p:cNvPr>
          <p:cNvSpPr/>
          <p:nvPr/>
        </p:nvSpPr>
        <p:spPr>
          <a:xfrm>
            <a:off x="8641080" y="3657600"/>
            <a:ext cx="502920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D746FFF-1702-607C-E200-35110B445063}"/>
              </a:ext>
            </a:extLst>
          </p:cNvPr>
          <p:cNvSpPr/>
          <p:nvPr/>
        </p:nvSpPr>
        <p:spPr>
          <a:xfrm>
            <a:off x="9281160" y="3154680"/>
            <a:ext cx="2148840" cy="1051560"/>
          </a:xfrm>
          <a:prstGeom prst="roundRect">
            <a:avLst/>
          </a:prstGeom>
          <a:solidFill>
            <a:srgbClr val="083C45"/>
          </a:solidFill>
          <a:ln w="13970">
            <a:solidFill>
              <a:srgbClr val="083C4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F_base</a:t>
            </a:r>
            <a:endParaRPr lang="en-US" sz="1800" dirty="0"/>
          </a:p>
          <a:p>
            <a:pPr marL="0" indent="0" algn="ctr">
              <a:buNone/>
            </a:pPr>
            <a:endParaRPr lang="en-US" sz="18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multimodal representation</a:t>
            </a:r>
            <a:endParaRPr lang="en-US" sz="18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47295C3-F6D3-F883-8D21-2F3E961CCA65}"/>
              </a:ext>
            </a:extLst>
          </p:cNvPr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9645EEE-BFD4-F4E4-F88D-5EBC12E00CFC}"/>
              </a:ext>
            </a:extLst>
          </p:cNvPr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151D5C0-554E-2055-2A26-7EB53B916E05}"/>
              </a:ext>
            </a:extLst>
          </p:cNvPr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13/25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3890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4094-709C-06EA-AB80-38B65A4F2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5F0EA8-B862-B5CF-4CD7-335F3FDA2B52}"/>
              </a:ext>
            </a:extLst>
          </p:cNvPr>
          <p:cNvSpPr/>
          <p:nvPr/>
        </p:nvSpPr>
        <p:spPr>
          <a:xfrm>
            <a:off x="502919" y="310896"/>
            <a:ext cx="90841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| Auxiliary Oracle Alignment(</a:t>
            </a:r>
            <a:r>
              <a:rPr lang="ko-KR" alt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손실 함수 계산</a:t>
            </a:r>
            <a:r>
              <a:rPr lang="en-US" altLang="ko-KR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A7C95F-C0D8-FBA1-C24D-C206B7886F6D}"/>
              </a:ext>
            </a:extLst>
          </p:cNvPr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기반 보조 손실 함수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EFF540-DEE1-0CA9-3B3B-0AD93726D404}"/>
              </a:ext>
            </a:extLst>
          </p:cNvPr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DA26F7-0CAD-B2AA-7B96-863844F6CE2B}"/>
              </a:ext>
            </a:extLst>
          </p:cNvPr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81697E-0FAE-EB90-0B65-277AE9890420}"/>
              </a:ext>
            </a:extLst>
          </p:cNvPr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469F71-58DB-DDB0-FF4E-7D59C946A31F}"/>
              </a:ext>
            </a:extLst>
          </p:cNvPr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7EA5A5-1905-771E-73D2-90701F366C05}"/>
              </a:ext>
            </a:extLst>
          </p:cNvPr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A673CD-E1E0-0E7D-CBBE-EF254EF702EA}"/>
              </a:ext>
            </a:extLst>
          </p:cNvPr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12AE204E-E1DD-9C54-00FE-5819345FAE6B}"/>
                  </a:ext>
                </a:extLst>
              </p:cNvPr>
              <p:cNvSpPr/>
              <p:nvPr/>
            </p:nvSpPr>
            <p:spPr>
              <a:xfrm>
                <a:off x="777239" y="1243584"/>
                <a:ext cx="10607040" cy="1656715"/>
              </a:xfrm>
              <a:prstGeom prst="roundRect">
                <a:avLst/>
              </a:prstGeom>
              <a:solidFill>
                <a:srgbClr val="F6D8CB"/>
              </a:solidFill>
              <a:ln w="13970">
                <a:solidFill>
                  <a:srgbClr val="F6D8CB"/>
                </a:solidFill>
              </a:ln>
            </p:spPr>
            <p:txBody>
              <a:bodyPr wrap="square" lIns="3048" tIns="3048" rIns="3048" bIns="3048" rtlCol="0" anchor="t"/>
              <a:lstStyle/>
              <a:p>
                <a:pPr marL="0" indent="0" algn="l">
                  <a:buNone/>
                </a:pP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멀티모달 </a:t>
                </a:r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Base Representation </a:t>
                </a: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생성</a:t>
                </a:r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(Training phase)</a:t>
                </a:r>
              </a:p>
              <a:p>
                <a:pPr marL="0" indent="0" algn="l">
                  <a:buNone/>
                </a:pPr>
                <a:endParaRPr lang="en-US" sz="1700" dirty="0"/>
              </a:p>
              <a:p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  <a:cs typeface="Malgun Gothic" pitchFamily="34" charset="-120"/>
                          </a:rPr>
                        </m:ctrlPr>
                      </m:sSubPr>
                      <m:e>
                        <m:r>
                          <a:rPr lang="en-US" altLang="ko-KR" sz="1700" b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  <a:cs typeface="Malgun Gothic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ko-KR" sz="1700" b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  <a:cs typeface="Malgun Gothic" pitchFamily="34" charset="-120"/>
                          </a:rPr>
                          <m:t>𝒃𝒂𝒔𝒆</m:t>
                        </m:r>
                      </m:sub>
                    </m:sSub>
                  </m:oMath>
                </a14:m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의</a:t>
                </a:r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Cosine Alignment</a:t>
                </a:r>
              </a:p>
              <a:p>
                <a:endParaRPr lang="en-US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→</a:t>
                </a:r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𝒃𝒂𝒔𝒆</m:t>
                            </m:r>
                          </m:sub>
                        </m:sSub>
                      </m:e>
                    </m:acc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=</m:t>
                    </m:r>
                    <m:f>
                      <m:fPr>
                        <m:ctrlP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𝒃𝒂𝒔𝒆</m:t>
                            </m:r>
                          </m:sub>
                        </m:sSub>
                      </m:num>
                      <m:den>
                        <m: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𝒃𝒂𝒔𝒆</m:t>
                            </m:r>
                          </m:sub>
                        </m:sSub>
                        <m: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|</m:t>
                        </m:r>
                      </m:den>
                    </m:f>
                  </m:oMath>
                </a14:m>
                <a:endParaRPr lang="en-US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</mc:Choice>
        <mc:Fallback xmlns="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12AE204E-E1DD-9C54-00FE-5819345FA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1243584"/>
                <a:ext cx="10607040" cy="1656715"/>
              </a:xfrm>
              <a:prstGeom prst="roundRect">
                <a:avLst/>
              </a:prstGeom>
              <a:blipFill>
                <a:blip r:embed="rId3"/>
                <a:stretch>
                  <a:fillRect l="-344"/>
                </a:stretch>
              </a:blipFill>
              <a:ln w="13970">
                <a:solidFill>
                  <a:srgbClr val="F6D8CB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FF26EB20-4CE3-7D4C-3723-BF4D595B137D}"/>
                  </a:ext>
                </a:extLst>
              </p:cNvPr>
              <p:cNvSpPr/>
              <p:nvPr/>
            </p:nvSpPr>
            <p:spPr>
              <a:xfrm>
                <a:off x="777239" y="3064890"/>
                <a:ext cx="10607040" cy="1845477"/>
              </a:xfrm>
              <a:prstGeom prst="roundRect">
                <a:avLst/>
              </a:prstGeom>
              <a:solidFill>
                <a:srgbClr val="D8EEF1"/>
              </a:solidFill>
              <a:ln w="13970">
                <a:solidFill>
                  <a:srgbClr val="D8EEF1"/>
                </a:solidFill>
              </a:ln>
            </p:spPr>
            <p:txBody>
              <a:bodyPr wrap="square" lIns="3048" tIns="3048" rIns="3048" bIns="3048" rtlCol="0" anchor="t"/>
              <a:lstStyle/>
              <a:p>
                <a:pPr marL="0" indent="0" algn="l">
                  <a:buNone/>
                </a:pPr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Auxiliary Oracle </a:t>
                </a:r>
                <a:r>
                  <a:rPr lang="en-US" sz="17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Alignmnet</a:t>
                </a:r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sz="17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보조</a:t>
                </a:r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손실 함수 계산</a:t>
                </a:r>
                <a:endParaRPr lang="en-US" altLang="ko-KR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 marL="0" indent="0" algn="l">
                  <a:buNone/>
                </a:pPr>
                <a:endParaRPr lang="en-US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Cosine Alignment </a:t>
                </a: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기반</a:t>
                </a:r>
                <a:endParaRPr lang="en-US" altLang="ko-KR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𝒃𝒂𝒔𝒆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와 모든 프로토타입</a:t>
                </a:r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700" b="1" i="1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acc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700" b="1" i="1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acc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</m:t>
                    </m:r>
                    <m:acc>
                      <m:accPr>
                        <m:chr m:val="̂"/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)</a:t>
                </a: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의 코사인 유사도가 낮고</a:t>
                </a:r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target=1 </a:t>
                </a: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이면</a:t>
                </a:r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, </a:t>
                </a:r>
                <a:r>
                  <a:rPr lang="ko-KR" alt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새로운 병리로 추정 가능</a:t>
                </a:r>
                <a:endParaRPr lang="en-US" altLang="ko-KR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endParaRPr lang="en-US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sSubPr>
                      <m:e>
                        <m: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𝒐𝒓𝒂𝒄𝒍𝒆</m:t>
                        </m:r>
                      </m:sub>
                    </m:sSub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=</m:t>
                    </m:r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𝟏</m:t>
                    </m:r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−</m:t>
                    </m:r>
                    <m:d>
                      <m:dPr>
                        <m:ctrlP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sz="1700" b="1" i="1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700" b="1" i="1" smtClean="0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Malgun Gothic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700" b="1" i="1" smtClean="0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Malgun Gothic" pitchFamily="34" charset="-122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altLang="ko-KR" sz="1700" b="1" i="1" smtClean="0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Malgun Gothic" pitchFamily="34" charset="-122"/>
                                  </a:rPr>
                                  <m:t>𝒃𝒂𝒔𝒆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7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̂"/>
                            <m:ctrlPr>
                              <a:rPr lang="en-US" altLang="ko-KR" sz="1700" b="1" i="1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700" b="1" i="1" smtClean="0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700" b="1" i="1" smtClean="0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ko-KR" sz="1700" b="1" i="1" smtClean="0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</m:acc>
                    <m:r>
                      <a:rPr lang="en-US" altLang="ko-KR" sz="17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en-US" altLang="ko-KR" sz="17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b="1" i="1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sz="1700" b="1" i="1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acc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FF26EB20-4CE3-7D4C-3723-BF4D595B1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3064890"/>
                <a:ext cx="10607040" cy="1845477"/>
              </a:xfrm>
              <a:prstGeom prst="roundRect">
                <a:avLst/>
              </a:prstGeom>
              <a:blipFill>
                <a:blip r:embed="rId4"/>
                <a:stretch>
                  <a:fillRect l="-287"/>
                </a:stretch>
              </a:blipFill>
              <a:ln w="13970">
                <a:solidFill>
                  <a:srgbClr val="D8EEF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6C37AB19-3573-2A5D-28F3-965C1154049F}"/>
              </a:ext>
            </a:extLst>
          </p:cNvPr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9DE8103-8259-8374-F13B-8440D6D4EB43}"/>
              </a:ext>
            </a:extLst>
          </p:cNvPr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6F3F9CC-9E75-8365-9E05-0DEC33104AEC}"/>
              </a:ext>
            </a:extLst>
          </p:cNvPr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14/25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22998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310896"/>
            <a:ext cx="87538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 | Correction Head와 prototype-weighted 대안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90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Head는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strict 입력으로부터 representation-level correction vector를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추정하는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5"/>
            <a:ext cx="10070686" cy="1161288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benign dominance로 인해 F_base만으로는 decision boundary가 흔들릴 수 있다.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auxiliary task가 main task를 과도하게 끌고 가는 것도 막아야 한다.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마지막 단계에서 “미세 조정” 전용 보정 모듈을 둔다.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2318388" y="2569466"/>
                <a:ext cx="5095868" cy="681145"/>
              </a:xfrm>
              <a:prstGeom prst="roundRect">
                <a:avLst/>
              </a:prstGeom>
              <a:solidFill>
                <a:srgbClr val="D8EEF1"/>
              </a:solidFill>
              <a:ln w="13970">
                <a:solidFill>
                  <a:srgbClr val="D8EEF1"/>
                </a:solidFill>
              </a:ln>
            </p:spPr>
            <p:txBody>
              <a:bodyPr wrap="square" lIns="0" tIns="0" rIns="0" bIns="0" rtlCol="0" anchor="t"/>
              <a:lstStyle/>
              <a:p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보정 </a:t>
                </a:r>
                <a:r>
                  <a:rPr lang="ko-KR" altLang="en-US" sz="14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백터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생성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MLP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를 통해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보정정보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(Correction vector)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r̂ </a:t>
                </a: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생성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→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4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accPr>
                      <m:e>
                        <m:r>
                          <a:rPr lang="en-US" altLang="ko-KR" sz="14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= </a:t>
                </a:r>
                <a:r>
                  <a:rPr lang="en-US" altLang="ko-KR" sz="14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h_corr</a:t>
                </a:r>
                <a:r>
                  <a:rPr lang="en-US" altLang="ko-KR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(</a:t>
                </a:r>
                <a:r>
                  <a:rPr lang="en-US" sz="14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F_base</a:t>
                </a:r>
                <a:r>
                  <a:rPr 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388" y="2569466"/>
                <a:ext cx="5095868" cy="681145"/>
              </a:xfrm>
              <a:prstGeom prst="roundRect">
                <a:avLst/>
              </a:prstGeom>
              <a:blipFill>
                <a:blip r:embed="rId3"/>
                <a:stretch>
                  <a:fillRect l="-1313" t="-2655" b="-14159"/>
                </a:stretch>
              </a:blipFill>
              <a:ln w="13970">
                <a:solidFill>
                  <a:srgbClr val="D8EEF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7562264" y="2950130"/>
            <a:ext cx="47548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75773" y="3747164"/>
            <a:ext cx="47548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8192893" y="2569465"/>
                <a:ext cx="2655033" cy="1883663"/>
              </a:xfrm>
              <a:prstGeom prst="roundRect">
                <a:avLst/>
              </a:prstGeom>
              <a:solidFill>
                <a:srgbClr val="FFFFFF"/>
              </a:solidFill>
              <a:ln w="13970">
                <a:solidFill>
                  <a:srgbClr val="D4DDD8"/>
                </a:solidFill>
              </a:ln>
            </p:spPr>
            <p:txBody>
              <a:bodyPr wrap="square" lIns="1016" tIns="1016" rIns="1016" bIns="1016" rtlCol="0" anchor="ctr"/>
              <a:lstStyle/>
              <a:p>
                <a:pPr marL="0" indent="0">
                  <a:buNone/>
                </a:pPr>
                <a:r>
                  <a:rPr lang="ko-KR" alt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최종 특성 합성</a:t>
                </a:r>
                <a:endParaRPr lang="en-US" altLang="ko-KR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→  </a:t>
                </a:r>
                <a:r>
                  <a:rPr lang="en-US" sz="14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F_final</a:t>
                </a:r>
                <a:r>
                  <a:rPr lang="en-US" sz="14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= F_base + α ·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4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accPr>
                      <m:e>
                        <m:r>
                          <a:rPr lang="en-US" altLang="ko-KR" sz="140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𝒓</m:t>
                        </m:r>
                      </m:e>
                    </m:acc>
                  </m:oMath>
                </a14:m>
                <a:endParaRPr lang="en-US" sz="14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893" y="2569465"/>
                <a:ext cx="2655033" cy="1883663"/>
              </a:xfrm>
              <a:prstGeom prst="roundRect">
                <a:avLst/>
              </a:prstGeom>
              <a:blipFill>
                <a:blip r:embed="rId4"/>
                <a:stretch>
                  <a:fillRect l="-457"/>
                </a:stretch>
              </a:blipFill>
              <a:ln w="13970">
                <a:solidFill>
                  <a:srgbClr val="D4DDD8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15/25</a:t>
            </a:r>
            <a:endParaRPr lang="en-US" sz="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386CFA7B-A50E-AADD-0D8C-994E5783EE54}"/>
              </a:ext>
            </a:extLst>
          </p:cNvPr>
          <p:cNvSpPr/>
          <p:nvPr/>
        </p:nvSpPr>
        <p:spPr>
          <a:xfrm>
            <a:off x="785268" y="2569467"/>
            <a:ext cx="894461" cy="1883662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altLang="ko-KR" sz="14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F_base</a:t>
            </a:r>
            <a:endParaRPr lang="en-US" sz="14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910FD97B-4B24-945B-FB08-894A7D9FC74D}"/>
              </a:ext>
            </a:extLst>
          </p:cNvPr>
          <p:cNvSpPr/>
          <p:nvPr/>
        </p:nvSpPr>
        <p:spPr>
          <a:xfrm>
            <a:off x="1757300" y="2910038"/>
            <a:ext cx="47548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13">
                <a:extLst>
                  <a:ext uri="{FF2B5EF4-FFF2-40B4-BE49-F238E27FC236}">
                    <a16:creationId xmlns:a16="http://schemas.microsoft.com/office/drawing/2014/main" id="{B7EC1B5B-0171-D8B0-13BB-32343A21712D}"/>
                  </a:ext>
                </a:extLst>
              </p:cNvPr>
              <p:cNvSpPr/>
              <p:nvPr/>
            </p:nvSpPr>
            <p:spPr>
              <a:xfrm>
                <a:off x="2318388" y="3414136"/>
                <a:ext cx="5095868" cy="666057"/>
              </a:xfrm>
              <a:prstGeom prst="roundRect">
                <a:avLst/>
              </a:prstGeom>
              <a:solidFill>
                <a:srgbClr val="F4E8B7"/>
              </a:solidFill>
              <a:ln>
                <a:solidFill>
                  <a:srgbClr val="F4E8B7"/>
                </a:solidFill>
              </a:ln>
            </p:spPr>
            <p:txBody>
              <a:bodyPr wrap="square" lIns="2032" tIns="2032" rIns="2032" bIns="2032" rtlCol="0" anchor="ctr"/>
              <a:lstStyle/>
              <a:p>
                <a:r>
                  <a:rPr lang="ko-KR" altLang="en-US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셀프 게이트 가중치 산출</a:t>
                </a:r>
                <a:endParaRPr lang="en-US" altLang="ko-KR" sz="1400" b="1" dirty="0">
                  <a:solidFill>
                    <a:srgbClr val="17313A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• </a:t>
                </a:r>
                <a:r>
                  <a:rPr lang="ko-KR" altLang="en-US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보정을 얼마나 필요로 하는지 스스로 결정</a:t>
                </a:r>
                <a:endParaRPr lang="en-US" altLang="ko-KR" sz="1400" b="1" dirty="0">
                  <a:solidFill>
                    <a:srgbClr val="17313A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→ </a:t>
                </a:r>
                <a:r>
                  <a:rPr lang="el-GR" altLang="ko-KR" sz="1400" b="1" dirty="0">
                    <a:solidFill>
                      <a:srgbClr val="17313A"/>
                    </a:solidFill>
                    <a:ea typeface="Malgun Gothic" pitchFamily="34" charset="-122"/>
                  </a:rPr>
                  <a:t>α</a:t>
                </a:r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 = </a:t>
                </a:r>
                <a:r>
                  <a:rPr lang="el-GR" altLang="ko-KR" sz="1400" b="1" dirty="0">
                    <a:solidFill>
                      <a:srgbClr val="17313A"/>
                    </a:solidFill>
                    <a:ea typeface="Malgun Gothic" pitchFamily="34" charset="-122"/>
                  </a:rPr>
                  <a:t>σ</a:t>
                </a:r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solidFill>
                              <a:srgbClr val="17313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 smtClean="0">
                            <a:solidFill>
                              <a:srgbClr val="17313A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ko-KR" sz="1400" b="1" i="1" smtClean="0">
                            <a:solidFill>
                              <a:srgbClr val="17313A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</m:oMath>
                </a14:m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∙</a:t>
                </a:r>
                <a:r>
                  <a:rPr lang="en-US" altLang="ko-KR" sz="1400" b="1" dirty="0" err="1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F_base+b</a:t>
                </a:r>
                <a:r>
                  <a:rPr lang="en-US" altLang="ko-KR" sz="14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)</a:t>
                </a:r>
                <a:endParaRPr lang="en-US" sz="1400" b="1" dirty="0">
                  <a:solidFill>
                    <a:srgbClr val="17313A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mc:Choice>
        <mc:Fallback xmlns="">
          <p:sp>
            <p:nvSpPr>
              <p:cNvPr id="24" name="Text 13">
                <a:extLst>
                  <a:ext uri="{FF2B5EF4-FFF2-40B4-BE49-F238E27FC236}">
                    <a16:creationId xmlns:a16="http://schemas.microsoft.com/office/drawing/2014/main" id="{B7EC1B5B-0171-D8B0-13BB-32343A217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388" y="3414136"/>
                <a:ext cx="5095868" cy="666057"/>
              </a:xfrm>
              <a:prstGeom prst="roundRect">
                <a:avLst/>
              </a:prstGeom>
              <a:blipFill>
                <a:blip r:embed="rId5"/>
                <a:stretch>
                  <a:fillRect l="-1313" t="-5405" b="-13514"/>
                </a:stretch>
              </a:blipFill>
              <a:ln>
                <a:solidFill>
                  <a:srgbClr val="F4E8B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10">
            <a:extLst>
              <a:ext uri="{FF2B5EF4-FFF2-40B4-BE49-F238E27FC236}">
                <a16:creationId xmlns:a16="http://schemas.microsoft.com/office/drawing/2014/main" id="{110071E4-2BA0-C807-8634-66B29D7DC8AB}"/>
              </a:ext>
            </a:extLst>
          </p:cNvPr>
          <p:cNvSpPr/>
          <p:nvPr/>
        </p:nvSpPr>
        <p:spPr>
          <a:xfrm>
            <a:off x="1774501" y="3747164"/>
            <a:ext cx="47548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33DCF625-F981-4B8F-5B63-3090FE6DF3E1}"/>
              </a:ext>
            </a:extLst>
          </p:cNvPr>
          <p:cNvSpPr/>
          <p:nvPr/>
        </p:nvSpPr>
        <p:spPr>
          <a:xfrm>
            <a:off x="1757300" y="4280915"/>
            <a:ext cx="628045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9A674324-BFC4-531C-E67E-9E4ED8D5A0E2}"/>
              </a:ext>
            </a:extLst>
          </p:cNvPr>
          <p:cNvSpPr/>
          <p:nvPr/>
        </p:nvSpPr>
        <p:spPr>
          <a:xfrm>
            <a:off x="8257568" y="4972201"/>
            <a:ext cx="2590358" cy="897137"/>
          </a:xfrm>
          <a:prstGeom prst="roundRect">
            <a:avLst/>
          </a:prstGeom>
          <a:solidFill>
            <a:srgbClr val="DDEAD9"/>
          </a:solidFill>
          <a:ln>
            <a:solidFill>
              <a:srgbClr val="DDEAD9"/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예측</a:t>
            </a:r>
            <a:endParaRPr lang="en-US" altLang="ko-KR" sz="1400" b="1" dirty="0">
              <a:solidFill>
                <a:srgbClr val="1731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</a:t>
            </a:r>
            <a:r>
              <a:rPr lang="ko-KR" alt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위한 </a:t>
            </a:r>
            <a:r>
              <a:rPr lang="ko-KR" altLang="en-US" sz="14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시그모이드</a:t>
            </a:r>
            <a:r>
              <a:rPr lang="ko-KR" altLang="en-US" sz="1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</a:t>
            </a:r>
            <a:endParaRPr lang="en-US" altLang="ko-KR" sz="1400" b="1" dirty="0">
              <a:solidFill>
                <a:srgbClr val="17313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→ </a:t>
            </a:r>
            <a:r>
              <a:rPr lang="en-US" sz="1400" b="1" dirty="0"/>
              <a:t>y^ =</a:t>
            </a:r>
            <a:r>
              <a:rPr lang="el-GR" altLang="ko-KR" sz="1400" b="1" dirty="0">
                <a:solidFill>
                  <a:srgbClr val="17313A"/>
                </a:solidFill>
                <a:ea typeface="Malgun Gothic" pitchFamily="34" charset="-122"/>
              </a:rPr>
              <a:t> σ</a:t>
            </a:r>
            <a:r>
              <a:rPr lang="en-US" altLang="ko-KR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altLang="ko-KR" sz="140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g_cls</a:t>
            </a:r>
            <a:r>
              <a:rPr lang="en-US" altLang="ko-KR" sz="14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sz="1400" b="1" dirty="0" err="1"/>
              <a:t>F_final</a:t>
            </a:r>
            <a:r>
              <a:rPr lang="en-US" sz="1400" b="1" dirty="0"/>
              <a:t>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14">
                <a:extLst>
                  <a:ext uri="{FF2B5EF4-FFF2-40B4-BE49-F238E27FC236}">
                    <a16:creationId xmlns:a16="http://schemas.microsoft.com/office/drawing/2014/main" id="{49112D2B-B791-C248-5DFB-C8FBFFF87F4C}"/>
                  </a:ext>
                </a:extLst>
              </p:cNvPr>
              <p:cNvSpPr/>
              <p:nvPr/>
            </p:nvSpPr>
            <p:spPr>
              <a:xfrm>
                <a:off x="777240" y="4975968"/>
                <a:ext cx="6238662" cy="897139"/>
              </a:xfrm>
              <a:prstGeom prst="roundRect">
                <a:avLst/>
              </a:prstGeom>
              <a:solidFill>
                <a:srgbClr val="EDF6F7"/>
              </a:solidFill>
              <a:ln w="13970">
                <a:solidFill>
                  <a:srgbClr val="EDF6F7"/>
                </a:solidFill>
              </a:ln>
            </p:spPr>
            <p:txBody>
              <a:bodyPr wrap="square" lIns="1778" tIns="1778" rIns="1778" bIns="1778" rtlCol="0" anchor="t"/>
              <a:lstStyle/>
              <a:p>
                <a:pPr marL="0" indent="0">
                  <a:buNone/>
                </a:pPr>
                <a:r>
                  <a:rPr lang="ko-KR" altLang="en-US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보정 정규화 손실함수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(Correction Regularization Loss)</a:t>
                </a:r>
              </a:p>
              <a:p>
                <a:r>
                  <a:rPr lang="en-US" altLang="ko-KR" sz="16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•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보정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벡터가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base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representation을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과도하게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훼손하지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않도록</a:t>
                </a:r>
                <a:r>
                  <a:rPr lang="en-US" altLang="ko-KR" sz="145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altLang="ko-KR" sz="145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제어</a:t>
                </a:r>
                <a:endParaRPr lang="en-US" altLang="ko-KR" sz="145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r>
                  <a:rPr lang="en-US" altLang="ko-KR" sz="1600" b="1" dirty="0">
                    <a:solidFill>
                      <a:srgbClr val="17313A"/>
                    </a:solidFill>
                    <a:latin typeface="Malgun Gothic" pitchFamily="34" charset="0"/>
                    <a:ea typeface="Malgun Gothic" pitchFamily="34" charset="-122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5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  <m:r>
                      <a:rPr lang="en-US" altLang="ko-KR" sz="145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45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altLang="ko-KR" sz="1450" b="1" i="1" dirty="0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n-US" altLang="ko-KR" sz="1450" b="1" dirty="0">
                                <a:solidFill>
                                  <a:srgbClr val="083C45"/>
                                </a:solidFill>
                                <a:latin typeface="Malgun Gothic" pitchFamily="34" charset="0"/>
                                <a:ea typeface="Malgun Gothic" pitchFamily="34" charset="-122"/>
                                <a:cs typeface="Malgun Gothic" pitchFamily="34" charset="-120"/>
                              </a:rPr>
                              <m:t>||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sz="1600" b="1" i="1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Malgun Gothic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1" i="1">
                                    <a:solidFill>
                                      <a:srgbClr val="083C45"/>
                                    </a:solidFill>
                                    <a:latin typeface="Cambria Math" panose="02040503050406030204" pitchFamily="18" charset="0"/>
                                    <a:ea typeface="Malgun Gothic" pitchFamily="34" charset="-122"/>
                                  </a:rPr>
                                  <m:t>𝒓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altLang="ko-KR" sz="1450" b="1" dirty="0">
                                <a:solidFill>
                                  <a:srgbClr val="083C45"/>
                                </a:solidFill>
                                <a:latin typeface="Malgun Gothic" pitchFamily="34" charset="0"/>
                                <a:ea typeface="Malgun Gothic" pitchFamily="34" charset="-122"/>
                                <a:cs typeface="Malgun Gothic" pitchFamily="34" charset="-120"/>
                              </a:rPr>
                              <m:t>||</m:t>
                            </m:r>
                          </m:e>
                          <m:sub>
                            <m:r>
                              <a:rPr lang="en-US" altLang="ko-KR" sz="1450" b="1" i="1" dirty="0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ko-KR" sz="1450" b="1" i="1" dirty="0" smtClean="0">
                                <a:solidFill>
                                  <a:srgbClr val="083C45"/>
                                </a:solidFill>
                                <a:latin typeface="Cambria Math" panose="02040503050406030204" pitchFamily="18" charset="0"/>
                                <a:ea typeface="Malgun Gothic" pitchFamily="34" charset="-122"/>
                              </a:rPr>
                              <m:t>𝟐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altLang="ko-KR" sz="1450" dirty="0"/>
                          <m:t> </m:t>
                        </m:r>
                      </m:e>
                    </m:nary>
                  </m:oMath>
                </a14:m>
                <a:endParaRPr lang="en-US" sz="1450" dirty="0"/>
              </a:p>
            </p:txBody>
          </p:sp>
        </mc:Choice>
        <mc:Fallback xmlns="">
          <p:sp>
            <p:nvSpPr>
              <p:cNvPr id="33" name="Text 14">
                <a:extLst>
                  <a:ext uri="{FF2B5EF4-FFF2-40B4-BE49-F238E27FC236}">
                    <a16:creationId xmlns:a16="http://schemas.microsoft.com/office/drawing/2014/main" id="{49112D2B-B791-C248-5DFB-C8FBFFF87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4975968"/>
                <a:ext cx="6238662" cy="897139"/>
              </a:xfrm>
              <a:prstGeom prst="roundRect">
                <a:avLst/>
              </a:prstGeom>
              <a:blipFill>
                <a:blip r:embed="rId6"/>
                <a:stretch>
                  <a:fillRect l="-1268" t="-671" b="-48322"/>
                </a:stretch>
              </a:blipFill>
              <a:ln w="13970">
                <a:solidFill>
                  <a:srgbClr val="EDF6F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12">
            <a:extLst>
              <a:ext uri="{FF2B5EF4-FFF2-40B4-BE49-F238E27FC236}">
                <a16:creationId xmlns:a16="http://schemas.microsoft.com/office/drawing/2014/main" id="{84709BA3-1BA9-1A2E-DC37-018E3D0C4529}"/>
              </a:ext>
            </a:extLst>
          </p:cNvPr>
          <p:cNvSpPr/>
          <p:nvPr/>
        </p:nvSpPr>
        <p:spPr>
          <a:xfrm>
            <a:off x="9574530" y="4589057"/>
            <a:ext cx="0" cy="30117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 | 학습 </a:t>
            </a:r>
            <a:r>
              <a:rPr lang="en-US" sz="26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전략과</a:t>
            </a: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실험은 “멀티모달 자체 효과 → oracle 효과 → correction 효과”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순서로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749808" y="1243584"/>
                <a:ext cx="3657600" cy="4389120"/>
              </a:xfrm>
              <a:prstGeom prst="roundRect">
                <a:avLst/>
              </a:prstGeom>
              <a:solidFill>
                <a:srgbClr val="D8EEF1"/>
              </a:solidFill>
              <a:ln w="13970">
                <a:solidFill>
                  <a:srgbClr val="D8EEF1"/>
                </a:solidFill>
              </a:ln>
            </p:spPr>
            <p:txBody>
              <a:bodyPr wrap="square" lIns="2794" tIns="2794" rIns="2794" bIns="2794" rtlCol="0" anchor="t"/>
              <a:lstStyle/>
              <a:p>
                <a:pPr marL="0" indent="0" algn="l">
                  <a:buNone/>
                </a:pPr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Objective</a:t>
                </a:r>
                <a:endParaRPr lang="en-US" sz="1630" dirty="0"/>
              </a:p>
              <a:p>
                <a:pPr marL="0" indent="0" algn="l">
                  <a:buNone/>
                </a:pPr>
                <a:endParaRPr lang="en-US" sz="163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30" b="1" i="0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𝐋𝐨𝐬𝐬</m:t>
                      </m:r>
                      <m:r>
                        <a:rPr lang="en-US" altLang="ko-KR" sz="1630" b="1" i="0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𝒄𝒍𝒔</m:t>
                          </m:r>
                        </m:sub>
                      </m:sSub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ko-KR" altLang="en-US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𝒐𝒓𝒂𝒄𝒍𝒆</m:t>
                          </m:r>
                        </m:sub>
                      </m:sSub>
                      <m:sSub>
                        <m:sSubPr>
                          <m:ctrlP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𝒐𝒓𝒂𝒄𝒍𝒆</m:t>
                          </m:r>
                        </m:sub>
                      </m:sSub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ko-KR" altLang="en-US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𝒄𝒐𝒓𝒓</m:t>
                          </m:r>
                        </m:sub>
                      </m:sSub>
                      <m:sSub>
                        <m:sSubPr>
                          <m:ctrlP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𝒄𝒐𝒓𝒓</m:t>
                          </m:r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−</m:t>
                          </m:r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𝒓𝒆𝒈</m:t>
                          </m:r>
                        </m:sub>
                      </m:sSub>
                    </m:oMath>
                  </m:oMathPara>
                </a14:m>
                <a:endParaRPr lang="en-US" sz="1630" dirty="0"/>
              </a:p>
              <a:p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sSubPr>
                      <m:e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𝒄𝒍𝒔</m:t>
                        </m:r>
                      </m:sub>
                    </m:sSub>
                  </m:oMath>
                </a14:m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: weighted BCE</a:t>
                </a:r>
                <a:endParaRPr lang="en-US" sz="1630" dirty="0"/>
              </a:p>
              <a:p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sSubPr>
                      <m:e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𝒐𝒓𝒂𝒄𝒍𝒆</m:t>
                        </m:r>
                      </m:sub>
                    </m:sSub>
                    <m:r>
                      <a:rPr lang="en-US" altLang="ko-KR" sz="1630" b="1" i="1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 </m:t>
                    </m:r>
                  </m:oMath>
                </a14:m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: pathology subset only</a:t>
                </a:r>
                <a:endParaRPr lang="en-US" sz="1630" dirty="0"/>
              </a:p>
              <a:p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sSubPr>
                      <m:e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𝑳</m:t>
                        </m:r>
                      </m:e>
                      <m:sub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𝒄𝒐𝒓𝒓</m:t>
                        </m:r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−</m:t>
                        </m:r>
                        <m:r>
                          <a:rPr lang="en-US" altLang="ko-KR" sz="1630" b="1" i="1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𝒓𝒆𝒈</m:t>
                        </m:r>
                      </m:sub>
                    </m:sSub>
                    <m:r>
                      <a:rPr lang="en-US" altLang="ko-KR" sz="1630" b="1" i="1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 </m:t>
                    </m:r>
                  </m:oMath>
                </a14:m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: correction magnitude control</a:t>
                </a:r>
                <a:endParaRPr lang="en-US" sz="1630" dirty="0"/>
              </a:p>
              <a:p>
                <a:pPr marL="0" indent="0" algn="l">
                  <a:buNone/>
                </a:pPr>
                <a:endParaRPr lang="en-US" sz="1630" dirty="0"/>
              </a:p>
              <a:p>
                <a:pPr marL="0" indent="0" algn="l">
                  <a:buNone/>
                </a:pPr>
                <a:r>
                  <a:rPr 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class imbalance가 매우 심하므로 main loss는 weighted BCE </a:t>
                </a:r>
                <a:r>
                  <a:rPr lang="ko-KR" altLang="en-US" sz="163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사용</a:t>
                </a:r>
                <a:endParaRPr lang="en-US" altLang="ko-KR" sz="163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  <a:p>
                <a:pPr marL="0" indent="0" algn="l">
                  <a:buNone/>
                </a:pPr>
                <a:endParaRPr lang="en-US" sz="163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630" b="1" i="1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ko-KR" sz="1630" b="1" i="1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ko-KR" sz="1630" b="1" i="1" smtClean="0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=</m:t>
                      </m:r>
                      <m:r>
                        <a:rPr lang="ko-KR" altLang="en-US" sz="1630" b="1" i="1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𝝈</m:t>
                      </m:r>
                      <m:d>
                        <m:dPr>
                          <m:ctrlP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𝒄𝒍𝒔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30" b="1" i="1">
                                      <a:solidFill>
                                        <a:srgbClr val="083C45"/>
                                      </a:solidFill>
                                      <a:latin typeface="Cambria Math" panose="02040503050406030204" pitchFamily="18" charset="0"/>
                                      <a:ea typeface="Malgun Gothic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30" b="1" i="1">
                                      <a:solidFill>
                                        <a:srgbClr val="083C45"/>
                                      </a:solidFill>
                                      <a:latin typeface="Cambria Math" panose="02040503050406030204" pitchFamily="18" charset="0"/>
                                      <a:ea typeface="Malgun Gothic" pitchFamily="34" charset="-122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altLang="ko-KR" sz="1630" b="1" i="1">
                                      <a:solidFill>
                                        <a:srgbClr val="083C45"/>
                                      </a:solidFill>
                                      <a:latin typeface="Cambria Math" panose="02040503050406030204" pitchFamily="18" charset="0"/>
                                      <a:ea typeface="Malgun Gothic" pitchFamily="34" charset="-122"/>
                                    </a:rPr>
                                    <m:t>𝒇𝒊𝒏𝒂𝒍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630" b="1" i="1" dirty="0">
                  <a:solidFill>
                    <a:srgbClr val="083C45"/>
                  </a:solidFill>
                  <a:latin typeface="Cambria Math" panose="02040503050406030204" pitchFamily="18" charset="0"/>
                  <a:ea typeface="Malgun Gothic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𝒄𝒍𝒔</m:t>
                          </m:r>
                        </m:sub>
                      </m:sSub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=</m:t>
                      </m:r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𝑾𝒆𝒊𝒈𝒉𝒕𝒆𝒅</m:t>
                      </m:r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 </m:t>
                      </m:r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𝑩𝑪𝑬</m:t>
                      </m:r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altLang="ko-KR" sz="1630" b="1" i="1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ko-KR" sz="1630" b="1" i="1">
                                  <a:solidFill>
                                    <a:srgbClr val="083C45"/>
                                  </a:solidFill>
                                  <a:latin typeface="Cambria Math" panose="02040503050406030204" pitchFamily="18" charset="0"/>
                                  <a:ea typeface="Malgun Gothic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</m:ctrlPr>
                        </m:sSubPr>
                        <m:e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𝒚</m:t>
                          </m:r>
                        </m:e>
                        <m:sub>
                          <m:r>
                            <a:rPr lang="en-US" altLang="ko-KR" sz="1630" b="1" i="1" smtClean="0">
                              <a:solidFill>
                                <a:srgbClr val="083C45"/>
                              </a:solidFill>
                              <a:latin typeface="Cambria Math" panose="02040503050406030204" pitchFamily="18" charset="0"/>
                              <a:ea typeface="Malgun Gothic" pitchFamily="34" charset="-122"/>
                            </a:rPr>
                            <m:t>𝒊</m:t>
                          </m:r>
                        </m:sub>
                      </m:sSub>
                      <m:r>
                        <a:rPr lang="en-US" altLang="ko-KR" sz="1630" b="1" i="1" smtClean="0">
                          <a:solidFill>
                            <a:srgbClr val="083C45"/>
                          </a:solidFill>
                          <a:latin typeface="Cambria Math" panose="02040503050406030204" pitchFamily="18" charset="0"/>
                          <a:ea typeface="Malgun Gothic" pitchFamily="34" charset="-122"/>
                        </a:rPr>
                        <m:t>)</m:t>
                      </m:r>
                    </m:oMath>
                  </m:oMathPara>
                </a14:m>
                <a:endParaRPr lang="en-US" sz="163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243584"/>
                <a:ext cx="3657600" cy="4389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D8EEF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4709160" y="1243584"/>
            <a:ext cx="672084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286" tIns="2286" rIns="2286" bIns="2286" rtlCol="0" anchor="t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6172200" cy="749808"/>
          </a:xfrm>
          <a:prstGeom prst="chevron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unimodal vs multimodal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image-only · tabular-only · multimodal base(+MONET)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983480" y="2880360"/>
            <a:ext cx="6172200" cy="749808"/>
          </a:xfrm>
          <a:prstGeom prst="chevron">
            <a:avLst/>
          </a:prstGeom>
          <a:solidFill>
            <a:srgbClr val="EFE2C7"/>
          </a:solidFill>
          <a:ln>
            <a:solidFill>
              <a:srgbClr val="EFE2C7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+ auxiliary oracle</a:t>
            </a:r>
            <a:endParaRPr lang="en-US" sz="1550" dirty="0"/>
          </a:p>
          <a:p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inference 입력을 유지한 </a:t>
            </a:r>
            <a:r>
              <a:rPr lang="en-US" sz="155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상태에서</a:t>
            </a: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auxiliary </a:t>
            </a: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</a:t>
            </a:r>
            <a:r>
              <a:rPr lang="en-US" sz="155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alignment의</a:t>
            </a: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기여 평가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83480" y="3886200"/>
            <a:ext cx="6172200" cy="749808"/>
          </a:xfrm>
          <a:prstGeom prst="chevron">
            <a:avLst/>
          </a:prstGeom>
          <a:solidFill>
            <a:srgbClr val="F6D8CB"/>
          </a:solidFill>
          <a:ln>
            <a:solidFill>
              <a:srgbClr val="F6D8CB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+ correction / prototype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representation correction과 안정성 효과 비교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 | 평가 프로토콜과 보고 지표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희귀 malignant 탐지에서는 평균 성능만이 아니라 low-FPR 구간과 fold 안정성을 함께 봐야 한다.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384048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protocol</a:t>
            </a: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patient-wise outer 5-fold</a:t>
            </a: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62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</a:t>
            </a: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2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FE / oracle </a:t>
            </a:r>
            <a:r>
              <a:rPr lang="en-US" sz="1620" b="1" dirty="0" err="1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fit은</a:t>
            </a: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fold-local</a:t>
            </a: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validation은 hyperparameter / early stopping용</a:t>
            </a: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test는 최종 fold score 보고용</a:t>
            </a: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누수 없는 실제 성능 추정</a:t>
            </a:r>
            <a:endParaRPr lang="en-US" sz="16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892040" y="1243584"/>
                <a:ext cx="2743200" cy="1051560"/>
              </a:xfrm>
              <a:prstGeom prst="roundRect">
                <a:avLst/>
              </a:prstGeom>
              <a:solidFill>
                <a:srgbClr val="D8EEF1"/>
              </a:solidFill>
              <a:ln w="13970">
                <a:solidFill>
                  <a:srgbClr val="D8EEF1"/>
                </a:solidFill>
              </a:ln>
            </p:spPr>
            <p:txBody>
              <a:bodyPr wrap="square" lIns="1270" tIns="1270" rIns="1270" bIns="1270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Primary metric</a:t>
                </a:r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pAUC@TPR</a:t>
                </a:r>
                <a:r>
                  <a:rPr lang="en-US" sz="18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Malgun Gothic" pitchFamily="34" charset="-120"/>
                      </a:rPr>
                      <m:t>≥</m:t>
                    </m:r>
                  </m:oMath>
                </a14:m>
                <a:r>
                  <a:rPr lang="en-US" sz="18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0.80</a:t>
                </a:r>
              </a:p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Kaggle 1</a:t>
                </a:r>
                <a:r>
                  <a:rPr lang="en-US" sz="1800" b="1" baseline="30000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st</a:t>
                </a:r>
                <a:r>
                  <a:rPr lang="en-US" sz="18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0.1726</a:t>
                </a:r>
                <a:r>
                  <a:rPr lang="en-US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4</a:t>
                </a:r>
                <a:endParaRPr lang="en-US" sz="180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1243584"/>
                <a:ext cx="2743200" cy="1051560"/>
              </a:xfrm>
              <a:prstGeom prst="roundRect">
                <a:avLst/>
              </a:prstGeom>
              <a:blipFill>
                <a:blip r:embed="rId3"/>
                <a:stretch>
                  <a:fillRect b="-1714"/>
                </a:stretch>
              </a:blipFill>
              <a:ln w="13970">
                <a:solidFill>
                  <a:srgbClr val="D8EEF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7909560" y="1243584"/>
            <a:ext cx="2743200" cy="105156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 metrics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ROC-AUC · AP · Balanced Accuracy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900" dirty="0"/>
          </a:p>
        </p:txBody>
      </p:sp>
      <p:pic>
        <p:nvPicPr>
          <p:cNvPr id="5122" name="Picture 2" descr="ProfGigio의 &quot;pAUC defined by restricted TPR&quot;은 CC-BY-SA-4.0 라이선스에 따라 제공됩니다">
            <a:extLst>
              <a:ext uri="{FF2B5EF4-FFF2-40B4-BE49-F238E27FC236}">
                <a16:creationId xmlns:a16="http://schemas.microsoft.com/office/drawing/2014/main" id="{C5D209D2-07F6-0938-5130-F096EC2C8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040" y="2568709"/>
            <a:ext cx="2918628" cy="289179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 | 설명 가능성(XAI) 분석 계획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 branch와 tabular branch, 그리고 auxiliary oracle 반응을 서로 다른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수준에서</a:t>
            </a: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0D5C63"/>
          </a:solidFill>
          <a:ln>
            <a:solidFill>
              <a:srgbClr val="0D5C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1207" y="1436856"/>
            <a:ext cx="10584648" cy="718227"/>
          </a:xfrm>
          <a:prstGeom prst="roundRect">
            <a:avLst/>
          </a:prstGeom>
          <a:solidFill>
            <a:srgbClr val="0F6B74"/>
          </a:solidFill>
          <a:ln>
            <a:solidFill>
              <a:srgbClr val="0F6B74"/>
            </a:solidFill>
          </a:ln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Image explanation</a:t>
            </a:r>
          </a:p>
          <a:p>
            <a:r>
              <a:rPr lang="en-US" altLang="ko-KR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• Vision CAM / attention map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으로 </a:t>
            </a:r>
            <a:r>
              <a:rPr lang="en-US" altLang="ko-KR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heatmap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확인</a:t>
            </a:r>
            <a:endParaRPr lang="en-US" sz="17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01207" y="3302236"/>
            <a:ext cx="10584648" cy="705735"/>
          </a:xfrm>
          <a:prstGeom prst="roundRect">
            <a:avLst/>
          </a:prstGeom>
          <a:solidFill>
            <a:srgbClr val="D5E7E5"/>
          </a:solidFill>
          <a:ln>
            <a:solidFill>
              <a:srgbClr val="D5E7E5"/>
            </a:solidFill>
          </a:ln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Auxiliary oracle</a:t>
            </a:r>
          </a:p>
          <a:p>
            <a:r>
              <a:rPr lang="en-US" altLang="ko-KR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• </a:t>
            </a:r>
            <a:r>
              <a:rPr lang="ko-KR" alt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코사인 유사도로 어떤 병변인지 확인 및 새로운 병변 식별</a:t>
            </a:r>
            <a:endParaRPr lang="en-US" sz="17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18/25</a:t>
            </a:r>
            <a:endParaRPr lang="en-US" sz="9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A60E548-B906-C6DC-9A63-32FDC9D76105}"/>
              </a:ext>
            </a:extLst>
          </p:cNvPr>
          <p:cNvSpPr/>
          <p:nvPr/>
        </p:nvSpPr>
        <p:spPr>
          <a:xfrm>
            <a:off x="606578" y="2375792"/>
            <a:ext cx="10584648" cy="705736"/>
          </a:xfrm>
          <a:prstGeom prst="roundRect">
            <a:avLst/>
          </a:prstGeom>
          <a:solidFill>
            <a:srgbClr val="E7B35B"/>
          </a:solidFill>
          <a:ln>
            <a:solidFill>
              <a:srgbClr val="E7B35B"/>
            </a:solidFill>
          </a:ln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Tabular explanation </a:t>
            </a:r>
          </a:p>
          <a:p>
            <a:r>
              <a:rPr lang="en-US" altLang="ko-KR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• </a:t>
            </a: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SHAP(</a:t>
            </a:r>
            <a:r>
              <a:rPr lang="en-US" altLang="ko-KR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Shapley Additive explanations ) </a:t>
            </a:r>
            <a:r>
              <a:rPr lang="ko-KR" alt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로</a:t>
            </a:r>
            <a:r>
              <a:rPr lang="en-US" altLang="ko-KR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각 입력변수가 최종 예측에 얼마나 기여했는지 수치 확인</a:t>
            </a:r>
            <a:endParaRPr lang="en-US" sz="17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22">
                <a:extLst>
                  <a:ext uri="{FF2B5EF4-FFF2-40B4-BE49-F238E27FC236}">
                    <a16:creationId xmlns:a16="http://schemas.microsoft.com/office/drawing/2014/main" id="{04BF4148-388A-3736-285D-35907A58431E}"/>
                  </a:ext>
                </a:extLst>
              </p:cNvPr>
              <p:cNvSpPr/>
              <p:nvPr/>
            </p:nvSpPr>
            <p:spPr>
              <a:xfrm>
                <a:off x="601207" y="4228678"/>
                <a:ext cx="10584648" cy="693693"/>
              </a:xfrm>
              <a:prstGeom prst="roundRect">
                <a:avLst/>
              </a:prstGeom>
              <a:solidFill>
                <a:srgbClr val="F5D7CB"/>
              </a:solidFill>
              <a:ln>
                <a:solidFill>
                  <a:srgbClr val="F5D7CB"/>
                </a:solidFill>
              </a:ln>
            </p:spPr>
            <p:txBody>
              <a:bodyPr wrap="square" lIns="0" tIns="0" rIns="0" bIns="0" rtlCol="0" anchor="ctr"/>
              <a:lstStyle/>
              <a:p>
                <a:r>
                  <a:rPr lang="en-US" altLang="ko-KR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Correction</a:t>
                </a:r>
                <a:endParaRPr lang="en-US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correction magnitude ||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700" b="1" i="1" dirty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700" b="1" dirty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|| 및 gate α </a:t>
                </a:r>
                <a:r>
                  <a:rPr lang="en-US" sz="17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분포</a:t>
                </a:r>
                <a:r>
                  <a:rPr lang="en-US" sz="17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:r>
                  <a:rPr lang="en-US" sz="17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분석</a:t>
                </a:r>
                <a:endParaRPr lang="en-US" sz="17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mc:Choice>
        <mc:Fallback xmlns="">
          <p:sp>
            <p:nvSpPr>
              <p:cNvPr id="32" name="Text 22">
                <a:extLst>
                  <a:ext uri="{FF2B5EF4-FFF2-40B4-BE49-F238E27FC236}">
                    <a16:creationId xmlns:a16="http://schemas.microsoft.com/office/drawing/2014/main" id="{04BF4148-388A-3736-285D-35907A584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07" y="4228678"/>
                <a:ext cx="10584648" cy="693693"/>
              </a:xfrm>
              <a:prstGeom prst="roundRect">
                <a:avLst/>
              </a:prstGeom>
              <a:blipFill>
                <a:blip r:embed="rId3"/>
                <a:stretch>
                  <a:fillRect l="-863" b="-5217"/>
                </a:stretch>
              </a:blipFill>
              <a:ln>
                <a:solidFill>
                  <a:srgbClr val="F5D7CB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시점과 </a:t>
            </a:r>
            <a:r>
              <a:rPr lang="en-US" altLang="ko-KR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시점의 사용 가능 정보가 서로 다른 비대칭 임상 데이터 환경에서의 피부암 악성 분류존재</a:t>
            </a:r>
            <a:r>
              <a:rPr lang="en-US" altLang="ko-KR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에서의 피부암 분류 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Split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9421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FE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55922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32424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Oracle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8925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 Correction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5426" y="850392"/>
            <a:ext cx="1803349" cy="228600"/>
          </a:xfrm>
          <a:prstGeom prst="roundRect">
            <a:avLst/>
          </a:prstGeom>
          <a:solidFill>
            <a:srgbClr val="E8EEF1"/>
          </a:solidFill>
          <a:ln>
            <a:solidFill>
              <a:srgbClr val="E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 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307592"/>
            <a:ext cx="10698480" cy="783041"/>
          </a:xfrm>
          <a:prstGeom prst="roundRect">
            <a:avLst/>
          </a:prstGeom>
          <a:solidFill>
            <a:srgbClr val="083C45"/>
          </a:solidFill>
          <a:ln w="13970">
            <a:solidFill>
              <a:srgbClr val="083C45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추론 시점의 입력 제약은 유지하면서</a:t>
            </a:r>
            <a:r>
              <a:rPr lang="en-US" altLang="ko-KR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학습 시점의 </a:t>
            </a:r>
            <a:r>
              <a:rPr lang="en-US" altLang="ko-KR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privileged pathology information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은 </a:t>
            </a:r>
            <a:r>
              <a:rPr lang="en-US" altLang="ko-KR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representation alignment 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신호로만 활용하는 </a:t>
            </a:r>
            <a:r>
              <a:rPr lang="ko-KR" altLang="en-US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멀티모달</a:t>
            </a: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피부암 분류 프레임워크</a:t>
            </a:r>
            <a:endParaRPr lang="en-US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2283990"/>
            <a:ext cx="10698480" cy="184088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Contrib. 1</a:t>
            </a:r>
          </a:p>
          <a:p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LUPI 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프레임워크 기반의 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'Auxiliary Oracle Alignment’</a:t>
            </a:r>
          </a:p>
          <a:p>
            <a:endParaRPr lang="en-US" altLang="ko-KR" sz="12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학습 시에만 주어지는 특권 정보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(Privileged Information)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를 활용하는 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LUPI(Learning Using Privileged Information) 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개념을 재해석</a:t>
            </a:r>
            <a:endParaRPr lang="en-US" altLang="ko-KR" sz="12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• 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언어 모델 기반 </a:t>
            </a:r>
            <a:r>
              <a:rPr lang="ko-KR" altLang="en-US" sz="12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시맨틱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 추출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:</a:t>
            </a:r>
          </a:p>
          <a:p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	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의료 특화 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LM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을 활용하여 텍스트 형태의 병리 정보를 고차원 벡터 공간으로 투영</a:t>
            </a:r>
            <a:endParaRPr lang="en-US" altLang="ko-KR" sz="12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• Representation Alignment:</a:t>
            </a:r>
          </a:p>
          <a:p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	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추론 모델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(Student)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이 직접 병리 데이터를 보지 않더라도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학습 과정에서 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'Oracle(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병리 정보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)'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이 지시하는 </a:t>
            </a:r>
            <a:r>
              <a:rPr lang="ko-KR" altLang="en-US" sz="1200" b="1" dirty="0" err="1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시맨틱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 축을 따라가도록 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	Representation 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수준에서 정렬</a:t>
            </a:r>
            <a:r>
              <a:rPr lang="en-US" altLang="ko-KR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(Alignment)</a:t>
            </a:r>
            <a:r>
              <a:rPr lang="ko-KR" alt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하는 기법을 제안</a:t>
            </a:r>
            <a:endParaRPr lang="en-US" altLang="ko-KR" sz="12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749809" y="4318228"/>
                <a:ext cx="10698480" cy="1689380"/>
              </a:xfrm>
              <a:prstGeom prst="roundRect">
                <a:avLst/>
              </a:prstGeom>
              <a:solidFill>
                <a:srgbClr val="EFE2C7"/>
              </a:solidFill>
              <a:ln w="13970">
                <a:solidFill>
                  <a:srgbClr val="EFE2C7"/>
                </a:solidFill>
              </a:ln>
            </p:spPr>
            <p:txBody>
              <a:bodyPr wrap="square" lIns="2794" tIns="2794" rIns="2794" bIns="2794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Contrib. 2</a:t>
                </a:r>
              </a:p>
              <a:p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극단적 불균형 해소를 위한 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'Representation Correction' 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메커니즘</a:t>
                </a:r>
                <a:endParaRPr lang="en-US" altLang="ko-KR" sz="12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endParaRPr lang="en-US" sz="12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Benign Dominance(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양성 데이터 편향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)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문제를 단순한 손실 함수 조절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(Weighted Loss) 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이상으로 해결</a:t>
                </a:r>
                <a:endParaRPr lang="en-US" altLang="ko-KR" sz="12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보정 헤드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(Correction Head) 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설계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: </a:t>
                </a:r>
              </a:p>
              <a:p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기본 </a:t>
                </a:r>
                <a:r>
                  <a:rPr lang="ko-KR" altLang="ko-KR" sz="12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멀티모달</a:t>
                </a:r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표현(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</m:ctrlPr>
                      </m:sSubPr>
                      <m:e>
                        <m:r>
                          <a:rPr lang="en-US" altLang="ko-KR" sz="12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𝑭</m:t>
                        </m:r>
                      </m:e>
                      <m:sub>
                        <m:r>
                          <a:rPr lang="en-US" altLang="ko-KR" sz="1200" b="1" i="1" smtClean="0">
                            <a:solidFill>
                              <a:srgbClr val="083C45"/>
                            </a:solidFill>
                            <a:latin typeface="Cambria Math" panose="02040503050406030204" pitchFamily="18" charset="0"/>
                            <a:ea typeface="Malgun Gothic" pitchFamily="34" charset="-122"/>
                          </a:rPr>
                          <m:t>𝒃𝒂𝒔𝒆</m:t>
                        </m:r>
                      </m:sub>
                    </m:sSub>
                  </m:oMath>
                </a14:m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)이 양성 샘플에 매몰되지 않도록, 학습된 보정 벡터(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𝒓</m:t>
                    </m:r>
                  </m:oMath>
                </a14:m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)를 더해 의사결정 경계를 </a:t>
                </a:r>
                <a:r>
                  <a:rPr lang="ko-KR" altLang="ko-KR" sz="1200" b="1" dirty="0" err="1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정교화하는</a:t>
                </a:r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구조를 제안</a:t>
                </a:r>
              </a:p>
              <a:p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• Self-Gated 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제어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:</a:t>
                </a:r>
              </a:p>
              <a:p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모델이 스스로 보정의 정도(</a:t>
                </a:r>
                <a14:m>
                  <m:oMath xmlns:m="http://schemas.openxmlformats.org/officeDocument/2006/math">
                    <m:r>
                      <a:rPr lang="ko-KR" altLang="en-US" sz="1200" b="1" i="1" dirty="0" smtClean="0">
                        <a:solidFill>
                          <a:srgbClr val="083C45"/>
                        </a:solidFill>
                        <a:latin typeface="Cambria Math" panose="02040503050406030204" pitchFamily="18" charset="0"/>
                        <a:ea typeface="Malgun Gothic" pitchFamily="34" charset="-122"/>
                      </a:rPr>
                      <m:t>𝜶</m:t>
                    </m:r>
                  </m:oMath>
                </a14:m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)</a:t>
                </a:r>
                <a:r>
                  <a:rPr lang="ko-KR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를 결정하게 하여, 안정적인 캘리브레이션과 강건한 예측을 가능하게</a:t>
                </a:r>
                <a:r>
                  <a:rPr lang="en-US" altLang="ko-KR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:r>
                  <a:rPr lang="ko-KR" altLang="en-US" sz="1200" b="1" dirty="0">
                    <a:solidFill>
                      <a:srgbClr val="083C45"/>
                    </a:solidFill>
                    <a:latin typeface="Malgun Gothic" pitchFamily="34" charset="0"/>
                    <a:ea typeface="Malgun Gothic" pitchFamily="34" charset="-122"/>
                  </a:rPr>
                  <a:t>함</a:t>
                </a:r>
                <a:endParaRPr lang="ko-KR" altLang="ko-KR" sz="1200" b="1" dirty="0">
                  <a:solidFill>
                    <a:srgbClr val="083C45"/>
                  </a:solidFill>
                  <a:latin typeface="Malgun Gothic" pitchFamily="34" charset="0"/>
                  <a:ea typeface="Malgun Gothic" pitchFamily="34" charset="-122"/>
                </a:endParaRP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9" y="4318228"/>
                <a:ext cx="10698480" cy="1689380"/>
              </a:xfrm>
              <a:prstGeom prst="roundRect">
                <a:avLst/>
              </a:prstGeom>
              <a:blipFill>
                <a:blip r:embed="rId3"/>
                <a:stretch>
                  <a:fillRect l="-57" t="-1071"/>
                </a:stretch>
              </a:blipFill>
              <a:ln w="13970">
                <a:solidFill>
                  <a:srgbClr val="EFE2C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083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참고 문헌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4871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5D7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문헌이 어느 phase의 설계를 정당화하는지 기준으로 다시 정리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1737360" cy="347472"/>
          </a:xfrm>
          <a:prstGeom prst="roundRect">
            <a:avLst/>
          </a:prstGeom>
          <a:solidFill>
            <a:srgbClr val="0F6B74"/>
          </a:solidFill>
          <a:ln>
            <a:solidFill>
              <a:srgbClr val="0F6B7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04872" y="3840480"/>
            <a:ext cx="1645920" cy="347472"/>
          </a:xfrm>
          <a:prstGeom prst="roundRect">
            <a:avLst/>
          </a:prstGeom>
          <a:solidFill>
            <a:srgbClr val="E7B35B"/>
          </a:solidFill>
          <a:ln>
            <a:solidFill>
              <a:srgbClr val="E7B35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Tabular 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15384" y="3840480"/>
            <a:ext cx="1783080" cy="347472"/>
          </a:xfrm>
          <a:prstGeom prst="roundRect">
            <a:avLst/>
          </a:prstGeom>
          <a:solidFill>
            <a:srgbClr val="D5E7E5"/>
          </a:solidFill>
          <a:ln>
            <a:solidFill>
              <a:srgbClr val="D5E7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Fusion / oracle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63056" y="3840480"/>
            <a:ext cx="1737360" cy="347472"/>
          </a:xfrm>
          <a:prstGeom prst="roundRect">
            <a:avLst/>
          </a:prstGeom>
          <a:solidFill>
            <a:srgbClr val="F5D7CB"/>
          </a:solidFill>
          <a:ln>
            <a:solidFill>
              <a:srgbClr val="F5D7C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/ stability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457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7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D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C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0EB9C-80E7-53CC-2A1D-D9B40576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E9EAC19F-E6BF-A76A-37B7-7F99329E5DE9}"/>
              </a:ext>
            </a:extLst>
          </p:cNvPr>
          <p:cNvSpPr/>
          <p:nvPr/>
        </p:nvSpPr>
        <p:spPr>
          <a:xfrm>
            <a:off x="502920" y="50292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F916A"/>
          </a:solidFill>
          <a:ln w="6350">
            <a:solidFill>
              <a:srgbClr val="EF916A"/>
            </a:solidFill>
            <a:prstDash val="solid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DCB9F3A1-2B7E-87C2-5A83-A71B3517672C}"/>
              </a:ext>
            </a:extLst>
          </p:cNvPr>
          <p:cNvSpPr/>
          <p:nvPr/>
        </p:nvSpPr>
        <p:spPr>
          <a:xfrm>
            <a:off x="548640" y="5303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Appendix | Related work</a:t>
            </a:r>
            <a:endParaRPr lang="en-US" sz="105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68EEF853-B903-2A7A-9BFF-E8A7EC3C8A41}"/>
              </a:ext>
            </a:extLst>
          </p:cNvPr>
          <p:cNvSpPr/>
          <p:nvPr/>
        </p:nvSpPr>
        <p:spPr>
          <a:xfrm>
            <a:off x="502920" y="10789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관련 논문 리뷰</a:t>
            </a:r>
            <a:endParaRPr lang="en-US" sz="29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8408282-1EE3-2647-D29B-C9B9CEF24AE2}"/>
              </a:ext>
            </a:extLst>
          </p:cNvPr>
          <p:cNvSpPr/>
          <p:nvPr/>
        </p:nvSpPr>
        <p:spPr>
          <a:xfrm>
            <a:off x="502920" y="16093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en-US" altLang="ko-KR" sz="1600" dirty="0">
                <a:solidFill>
                  <a:srgbClr val="DDEBED"/>
                </a:solidFill>
                <a:ea typeface="Noto Sans CJK KR" pitchFamily="34" charset="-122"/>
              </a:rPr>
              <a:t>Learning Using Privileged Information: Similarity Control and Knowledge Transfer </a:t>
            </a:r>
            <a:endParaRPr lang="ko-KR" altLang="en-US" sz="1600" dirty="0">
              <a:solidFill>
                <a:srgbClr val="DDEBED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DDEBED"/>
                </a:solidFill>
                <a:ea typeface="Noto Sans CJK KR" pitchFamily="34" charset="-122"/>
              </a:rPr>
              <a:t> 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F432850-8CDE-DD91-6102-57EB6DFC50EA}"/>
              </a:ext>
            </a:extLst>
          </p:cNvPr>
          <p:cNvSpPr/>
          <p:nvPr/>
        </p:nvSpPr>
        <p:spPr>
          <a:xfrm>
            <a:off x="502920" y="19659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ko-KR" sz="1000" dirty="0" err="1">
                <a:solidFill>
                  <a:srgbClr val="BBD6D9"/>
                </a:solidFill>
                <a:ea typeface="Noto Sans CJK KR" pitchFamily="34" charset="-122"/>
              </a:rPr>
              <a:t>Vapnik</a:t>
            </a:r>
            <a:r>
              <a:rPr lang="en-US" altLang="ko-KR" sz="1000" dirty="0">
                <a:solidFill>
                  <a:srgbClr val="BBD6D9"/>
                </a:solidFill>
                <a:ea typeface="Noto Sans CJK KR" pitchFamily="34" charset="-122"/>
              </a:rPr>
              <a:t> &amp; </a:t>
            </a:r>
            <a:r>
              <a:rPr lang="en-US" altLang="ko-KR" sz="1000" dirty="0" err="1">
                <a:solidFill>
                  <a:srgbClr val="BBD6D9"/>
                </a:solidFill>
                <a:ea typeface="Noto Sans CJK KR" pitchFamily="34" charset="-122"/>
              </a:rPr>
              <a:t>Izmailov</a:t>
            </a:r>
            <a:r>
              <a:rPr lang="en-US" altLang="ko-KR" sz="1000" dirty="0">
                <a:solidFill>
                  <a:srgbClr val="BBD6D9"/>
                </a:solidFill>
                <a:ea typeface="Noto Sans CJK KR" pitchFamily="34" charset="-122"/>
              </a:rPr>
              <a:t> · JMLR (2015) · https://jmlr.org/papers/v16/vapnik15b.html</a:t>
            </a:r>
            <a:endParaRPr lang="en-US" sz="1000" dirty="0">
              <a:solidFill>
                <a:srgbClr val="BBD6D9"/>
              </a:solidFill>
              <a:ea typeface="Noto Sans CJK KR" pitchFamily="34" charset="-122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BB2AFB2-C892-EF2A-6C68-BB19EE0F61CC}"/>
              </a:ext>
            </a:extLst>
          </p:cNvPr>
          <p:cNvSpPr/>
          <p:nvPr/>
        </p:nvSpPr>
        <p:spPr>
          <a:xfrm>
            <a:off x="502920" y="4590288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76F78"/>
          </a:solidFill>
          <a:ln w="6350">
            <a:solidFill>
              <a:srgbClr val="176F78"/>
            </a:solidFill>
            <a:prstDash val="solid"/>
          </a:ln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3A67297-DCFB-C16B-A5D9-5A3C4438EB9E}"/>
              </a:ext>
            </a:extLst>
          </p:cNvPr>
          <p:cNvSpPr/>
          <p:nvPr/>
        </p:nvSpPr>
        <p:spPr>
          <a:xfrm>
            <a:off x="394964" y="4580138"/>
            <a:ext cx="1724672" cy="221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rgbClr val="FFFFFF"/>
                </a:solidFill>
                <a:ea typeface="Noto Sans CJK KR" pitchFamily="34" charset="-122"/>
              </a:rPr>
              <a:t>Privileged information</a:t>
            </a:r>
            <a:endParaRPr lang="en-US" sz="1050" b="1" dirty="0">
              <a:solidFill>
                <a:srgbClr val="FFFFFF"/>
              </a:solidFill>
              <a:ea typeface="Noto Sans CJK KR" pitchFamily="34" charset="-122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334A71D9-B15A-767D-58E6-A034FE7007E5}"/>
              </a:ext>
            </a:extLst>
          </p:cNvPr>
          <p:cNvSpPr/>
          <p:nvPr/>
        </p:nvSpPr>
        <p:spPr>
          <a:xfrm>
            <a:off x="2176272" y="4590288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DAB253"/>
          </a:solidFill>
          <a:ln w="6350">
            <a:solidFill>
              <a:srgbClr val="DAB253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C35CB79-B3F6-B2E4-75D5-C26086A33A94}"/>
              </a:ext>
            </a:extLst>
          </p:cNvPr>
          <p:cNvSpPr/>
          <p:nvPr/>
        </p:nvSpPr>
        <p:spPr>
          <a:xfrm>
            <a:off x="2221992" y="461772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rgbClr val="0E5960"/>
                </a:solidFill>
                <a:ea typeface="Noto Sans CJK KR" pitchFamily="34" charset="-122"/>
              </a:rPr>
              <a:t>Similarity control</a:t>
            </a:r>
            <a:endParaRPr lang="en-US" sz="1050" b="1" dirty="0">
              <a:solidFill>
                <a:srgbClr val="0E5960"/>
              </a:solidFill>
              <a:ea typeface="Noto Sans CJK KR" pitchFamily="34" charset="-122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6D74DF4-3AC4-CA7D-2B20-4C7D08DAF3FF}"/>
              </a:ext>
            </a:extLst>
          </p:cNvPr>
          <p:cNvSpPr/>
          <p:nvPr/>
        </p:nvSpPr>
        <p:spPr>
          <a:xfrm>
            <a:off x="4133088" y="459028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DDE7E8"/>
          </a:solidFill>
          <a:ln w="6350">
            <a:solidFill>
              <a:srgbClr val="DDE7E8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59B03E7-8B12-3E81-42A0-4B99426986F5}"/>
              </a:ext>
            </a:extLst>
          </p:cNvPr>
          <p:cNvSpPr/>
          <p:nvPr/>
        </p:nvSpPr>
        <p:spPr>
          <a:xfrm>
            <a:off x="4178808" y="46177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rgbClr val="0E5960"/>
                </a:solidFill>
                <a:ea typeface="Noto Sans CJK KR" pitchFamily="34" charset="-122"/>
              </a:rPr>
              <a:t>Knowledge transfer</a:t>
            </a:r>
            <a:endParaRPr lang="en-US" sz="1050" b="1" dirty="0">
              <a:solidFill>
                <a:srgbClr val="0E5960"/>
              </a:solidFill>
              <a:ea typeface="Noto Sans CJK KR" pitchFamily="34" charset="-122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FE0610AF-B11C-3DA9-5B5E-F2F6057F3A1C}"/>
              </a:ext>
            </a:extLst>
          </p:cNvPr>
          <p:cNvSpPr/>
          <p:nvPr/>
        </p:nvSpPr>
        <p:spPr>
          <a:xfrm>
            <a:off x="502920" y="5102352"/>
            <a:ext cx="9672298" cy="676655"/>
          </a:xfrm>
          <a:prstGeom prst="roundRect">
            <a:avLst>
              <a:gd name="adj" fmla="val 9302"/>
            </a:avLst>
          </a:prstGeom>
          <a:solidFill>
            <a:srgbClr val="135C65"/>
          </a:solidFill>
          <a:ln w="15240">
            <a:solidFill>
              <a:srgbClr val="2C7A84"/>
            </a:solidFill>
            <a:prstDash val="solid"/>
          </a:ln>
        </p:spPr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412D54F-A845-9973-D0BD-77927FA149F4}"/>
              </a:ext>
            </a:extLst>
          </p:cNvPr>
          <p:cNvSpPr/>
          <p:nvPr/>
        </p:nvSpPr>
        <p:spPr>
          <a:xfrm>
            <a:off x="658368" y="52303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BFE3E6"/>
                </a:solidFill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18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9A8948A4-B939-AD71-9225-77976704640F}"/>
              </a:ext>
            </a:extLst>
          </p:cNvPr>
          <p:cNvSpPr/>
          <p:nvPr/>
        </p:nvSpPr>
        <p:spPr>
          <a:xfrm>
            <a:off x="658367" y="5449824"/>
            <a:ext cx="92912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ko-KR" altLang="en-US" sz="1500" b="1" dirty="0">
                <a:solidFill>
                  <a:srgbClr val="FFFFFF"/>
                </a:solidFill>
              </a:rPr>
              <a:t>“특권 정보</a:t>
            </a:r>
            <a:r>
              <a:rPr lang="en-US" altLang="ko-KR" sz="1500" b="1" dirty="0">
                <a:solidFill>
                  <a:srgbClr val="FFFFFF"/>
                </a:solidFill>
                <a:ea typeface="Noto Sans CJK KR" pitchFamily="34" charset="-122"/>
              </a:rPr>
              <a:t>(privileged information)</a:t>
            </a:r>
            <a:r>
              <a:rPr lang="ko-KR" altLang="en-US" sz="1500" b="1" dirty="0">
                <a:solidFill>
                  <a:srgbClr val="FFFFFF"/>
                </a:solidFill>
              </a:rPr>
              <a:t>를 활용해 학습 과정에서 유사도 제어와 지식 전이를 통해 더 빠르고 정확한 학습을 달성할 수 있다</a:t>
            </a:r>
            <a:r>
              <a:rPr lang="en-US" altLang="ko-KR" sz="1500" b="1" dirty="0">
                <a:solidFill>
                  <a:srgbClr val="FFFFFF"/>
                </a:solidFill>
                <a:ea typeface="Noto Sans CJK KR" pitchFamily="34" charset="-122"/>
              </a:rPr>
              <a:t>.”</a:t>
            </a:r>
            <a:endParaRPr lang="en-US" sz="1500" b="1" dirty="0">
              <a:solidFill>
                <a:srgbClr val="FFFFFF"/>
              </a:solidFill>
              <a:ea typeface="Noto Sans CJK KR" pitchFamily="34" charset="-122"/>
            </a:endParaRPr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2C4CC46D-41BB-F701-F906-8C8E8DF3A2E6}"/>
              </a:ext>
            </a:extLst>
          </p:cNvPr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7FAEB5"/>
            </a:solidFill>
            <a:prstDash val="solid"/>
          </a:ln>
        </p:spPr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1F967A01-5DFC-024F-3AC9-FAC82EBA9382}"/>
              </a:ext>
            </a:extLst>
          </p:cNvPr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D7E7E9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5ACF0AB0-6ACD-902A-7BAB-CDF0F4B87592}"/>
              </a:ext>
            </a:extLst>
          </p:cNvPr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7E7E9"/>
                </a:solidFill>
                <a:ea typeface="Noto Sans CJK KR" pitchFamily="34" charset="-122"/>
                <a:cs typeface="Noto Sans CJK KR" pitchFamily="34" charset="-120"/>
              </a:rPr>
              <a:t>20/25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503671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LUPI 논문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Vapnik &amp; Izmailov (2015)의 문제 설정과 train-only privileged information 개념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51592" y="338328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1592" y="37033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0680192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55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243584"/>
            <a:ext cx="10588752" cy="731520"/>
          </a:xfrm>
          <a:prstGeom prst="roundRect">
            <a:avLst>
              <a:gd name="adj" fmla="val 15000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62456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Vapnik &amp; Izmailov | </a:t>
            </a:r>
            <a:r>
              <a:rPr 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earning </a:t>
            </a:r>
            <a:r>
              <a:rPr 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 </a:t>
            </a:r>
            <a:r>
              <a:rPr 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rivileged </a:t>
            </a:r>
            <a:r>
              <a:rPr 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nformation: Similarity Control and Knowledge Transfer | JMLR (2015)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2121408"/>
            <a:ext cx="3154680" cy="1051560"/>
          </a:xfrm>
          <a:prstGeom prst="roundRect">
            <a:avLst>
              <a:gd name="adj" fmla="val 15652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6771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2596896"/>
            <a:ext cx="2825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시에만 존재하는 추가 정보 x*를 사용해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시점에는 x만으로 더 잘 일반화할 수 있는가?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4041648" y="2121408"/>
            <a:ext cx="2788920" cy="1051560"/>
          </a:xfrm>
          <a:prstGeom prst="roundRect">
            <a:avLst>
              <a:gd name="adj" fmla="val 15652"/>
            </a:avLst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267712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패러다임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06240" y="2596896"/>
            <a:ext cx="24597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 교사(Intelligent Teacher)가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단계에서만 학생 모델을 가이드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67728" y="2121408"/>
            <a:ext cx="4370832" cy="1051560"/>
          </a:xfrm>
          <a:prstGeom prst="roundRect">
            <a:avLst>
              <a:gd name="adj" fmla="val 15652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26771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연구 매핑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0" y="2596896"/>
            <a:ext cx="40416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lesion image + strict_main_input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 = pathology text (iddx_full)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추론에는 x만 남기고, 학습에서만 oracle signal로 사용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49808" y="3456432"/>
            <a:ext cx="7955280" cy="1719072"/>
          </a:xfrm>
          <a:prstGeom prst="roundRect">
            <a:avLst>
              <a:gd name="adj" fmla="val 8511"/>
            </a:avLst>
          </a:prstGeom>
          <a:solidFill>
            <a:srgbClr val="F2F6F7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3291840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3192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Train-time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87968" y="3456432"/>
            <a:ext cx="2450592" cy="1719072"/>
          </a:xfrm>
          <a:prstGeom prst="roundRect">
            <a:avLst>
              <a:gd name="adj" fmla="val 8511"/>
            </a:avLst>
          </a:prstGeom>
          <a:solidFill>
            <a:srgbClr val="F2F6F7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34272" y="3291840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34272" y="33192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Test-time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7552" y="3968496"/>
            <a:ext cx="135331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0416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 input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2487168" y="4142232"/>
            <a:ext cx="201168" cy="201168"/>
          </a:xfrm>
          <a:prstGeom prst="ellipse">
            <a:avLst/>
          </a:prstGeom>
          <a:solidFill>
            <a:srgbClr val="E9EEE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4146804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16352" y="3968496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4041648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Privileged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3044952" y="4681728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F3D5C6"/>
          </a:solidFill>
          <a:ln w="12700">
            <a:solidFill>
              <a:srgbClr val="F3D5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44952" y="47091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only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98848" y="4050792"/>
            <a:ext cx="658368" cy="438912"/>
          </a:xfrm>
          <a:prstGeom prst="chevron">
            <a:avLst/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41330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40096" y="3822192"/>
            <a:ext cx="1325880" cy="896112"/>
          </a:xfrm>
          <a:prstGeom prst="roundRect">
            <a:avLst>
              <a:gd name="adj" fmla="val 9184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895344"/>
            <a:ext cx="1252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Teacher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6821424" y="4050792"/>
            <a:ext cx="658368" cy="438912"/>
          </a:xfrm>
          <a:prstGeom prst="chevron">
            <a:avLst/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41330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transfer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644384" y="3822192"/>
            <a:ext cx="868680" cy="896112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895344"/>
            <a:ext cx="795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9127068" y="3954984"/>
            <a:ext cx="8686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3644" y="4028136"/>
            <a:ext cx="79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only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10087188" y="4037280"/>
            <a:ext cx="475488" cy="43891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35828" y="3808680"/>
            <a:ext cx="547556" cy="8961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72404" y="3881832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9218508" y="4723080"/>
            <a:ext cx="658368" cy="310896"/>
          </a:xfrm>
          <a:prstGeom prst="roundRect">
            <a:avLst>
              <a:gd name="adj" fmla="val 26471"/>
            </a:avLst>
          </a:prstGeom>
          <a:solidFill>
            <a:srgbClr val="E9EEE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55084" y="479623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236796" y="4741368"/>
            <a:ext cx="621792" cy="256032"/>
          </a:xfrm>
          <a:prstGeom prst="line">
            <a:avLst/>
          </a:prstGeom>
          <a:noFill/>
          <a:ln w="12700">
            <a:solidFill>
              <a:srgbClr val="D87C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236796" y="4777944"/>
            <a:ext cx="621792" cy="219456"/>
          </a:xfrm>
          <a:prstGeom prst="line">
            <a:avLst/>
          </a:prstGeom>
          <a:noFill/>
          <a:ln w="12700">
            <a:solidFill>
              <a:srgbClr val="D87C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50566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시험장에는 x*를 가져가지 않음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749808" y="5376672"/>
            <a:ext cx="10588752" cy="438912"/>
          </a:xfrm>
          <a:prstGeom prst="roundRect">
            <a:avLst>
              <a:gd name="adj" fmla="val 25000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" y="5481828"/>
            <a:ext cx="10296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중에는 설명을 듣고, 추론 단계에서는 원래 입력 X만으로 답하는 패러다임</a:t>
            </a:r>
            <a:endParaRPr lang="en-US" sz="1130" dirty="0"/>
          </a:p>
        </p:txBody>
      </p:sp>
      <p:sp>
        <p:nvSpPr>
          <p:cNvPr id="54" name="Text 52"/>
          <p:cNvSpPr/>
          <p:nvPr/>
        </p:nvSpPr>
        <p:spPr>
          <a:xfrm>
            <a:off x="713232" y="60350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 소스 | https://jmlr.org/papers/v16/vapnik15b.html</a:t>
            </a:r>
            <a:endParaRPr lang="en-US" sz="7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Standard ML vs LUPI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단계에서만 추가 정보를 허용할 때 모델 계약(contract)이 어떻게 달라지는가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51592" y="338328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1592" y="37033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0680192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55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243584"/>
            <a:ext cx="10588752" cy="731520"/>
          </a:xfrm>
          <a:prstGeom prst="roundRect">
            <a:avLst>
              <a:gd name="adj" fmla="val 15000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62456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대비: Standard ML은 train=test 정보를 가정하고, LUPI는 train-time privileged signal만 허용한다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2084832"/>
            <a:ext cx="5074920" cy="3246120"/>
          </a:xfrm>
          <a:prstGeom prst="roundRect">
            <a:avLst>
              <a:gd name="adj" fmla="val 5070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258568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860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 ML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8408" y="276148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325880" y="2907792"/>
            <a:ext cx="68580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2456" y="2980944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2962656"/>
            <a:ext cx="594360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8163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71216" y="2889504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2962656"/>
            <a:ext cx="594360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907792"/>
            <a:ext cx="5029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2980944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38130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325880" y="3959352"/>
            <a:ext cx="68580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2456" y="4032504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48840" y="4014216"/>
            <a:ext cx="594360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386791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71216" y="3941064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 model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0" y="4014216"/>
            <a:ext cx="594360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959352"/>
            <a:ext cx="5029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4032504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4128" y="4526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데이터(X)와 정답(Y) 쌍으로만 학습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학습과 추론의 modality set이 동일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구조는 단순하지만 train-only 설명을 활용하지 못함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5934456" y="2084832"/>
            <a:ext cx="5404104" cy="3246120"/>
          </a:xfrm>
          <a:prstGeom prst="roundRect">
            <a:avLst>
              <a:gd name="adj" fmla="val 5070"/>
            </a:avLst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3056" y="2258568"/>
            <a:ext cx="841248" cy="256032"/>
          </a:xfrm>
          <a:prstGeom prst="roundRect">
            <a:avLst>
              <a:gd name="adj" fmla="val 4285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228600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LUPI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81344" y="276148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446520" y="2907792"/>
            <a:ext cx="5029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2980944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04304" y="298094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05472" y="2907792"/>
            <a:ext cx="59436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42048" y="2980944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36992" y="2962656"/>
            <a:ext cx="566928" cy="347472"/>
          </a:xfrm>
          <a:prstGeom prst="chevron">
            <a:avLst/>
          </a:prstGeom>
          <a:solidFill>
            <a:srgbClr val="F3D5C6"/>
          </a:solidFill>
          <a:ln w="12700">
            <a:solidFill>
              <a:srgbClr val="F3D5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91856" y="3044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hint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595360" y="281635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31936" y="2889504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46920" y="2962656"/>
            <a:ext cx="475488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95560" y="2816352"/>
            <a:ext cx="822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32136" y="288950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181344" y="38130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446520" y="3959352"/>
            <a:ext cx="68580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83096" y="4032504"/>
            <a:ext cx="612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269480" y="4014216"/>
            <a:ext cx="685800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92440" y="3867912"/>
            <a:ext cx="10515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29016" y="3941064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81160" y="4014216"/>
            <a:ext cx="685800" cy="34747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04120" y="3959352"/>
            <a:ext cx="50292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40696" y="4032504"/>
            <a:ext cx="429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753344" y="3922776"/>
            <a:ext cx="384048" cy="329184"/>
          </a:xfrm>
          <a:prstGeom prst="roundRect">
            <a:avLst>
              <a:gd name="adj" fmla="val 25000"/>
            </a:avLst>
          </a:prstGeom>
          <a:solidFill>
            <a:srgbClr val="E9EEEF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89920" y="39959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10780776" y="3941064"/>
            <a:ext cx="329184" cy="256032"/>
          </a:xfrm>
          <a:prstGeom prst="line">
            <a:avLst/>
          </a:prstGeom>
          <a:noFill/>
          <a:ln w="12700">
            <a:solidFill>
              <a:srgbClr val="D87C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780776" y="3941064"/>
            <a:ext cx="356616" cy="256032"/>
          </a:xfrm>
          <a:prstGeom prst="line">
            <a:avLst/>
          </a:prstGeom>
          <a:noFill/>
          <a:ln w="12700">
            <a:solidFill>
              <a:srgbClr val="D87C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45352" y="4526280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훈련 때만 x*를 사용해 student를 가이드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11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추론은</a:t>
            </a: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X만으로 유지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train-time 설명을 학습 효율로 바꾸는 구조</a:t>
            </a:r>
            <a:endParaRPr lang="en-US" sz="1110" dirty="0"/>
          </a:p>
        </p:txBody>
      </p:sp>
      <p:sp>
        <p:nvSpPr>
          <p:cNvPr id="63" name="Shape 61"/>
          <p:cNvSpPr/>
          <p:nvPr/>
        </p:nvSpPr>
        <p:spPr>
          <a:xfrm>
            <a:off x="749808" y="5394960"/>
            <a:ext cx="10588752" cy="274320"/>
          </a:xfrm>
          <a:prstGeom prst="roundRect">
            <a:avLst>
              <a:gd name="adj" fmla="val 33333"/>
            </a:avLst>
          </a:prstGeom>
          <a:solidFill>
            <a:srgbClr val="F2F6F7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6112" y="5472684"/>
            <a:ext cx="10296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비유하면, 시험장에 가져갈 수 없는 “문제 풀이 비법”을 공부할 때만 활용하는 것과 같다.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713232" y="60350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 소스 | https://jmlr.org/papers/v16/vapnik15b.html</a:t>
            </a:r>
            <a:endParaRPr lang="en-US" sz="7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Similarity Control · Knowledge Transfer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LUPI가 sample efficiency를 높이는 두 가지 메커니즘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51592" y="338328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1592" y="37033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0680192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55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243584"/>
            <a:ext cx="10588752" cy="731520"/>
          </a:xfrm>
          <a:prstGeom prst="roundRect">
            <a:avLst>
              <a:gd name="adj" fmla="val 15000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62456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메커니즘: privileged space에서 유사성과 규칙을 읽고, 그 지식을 원래 입력 공간의 student로 전달한다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2084832"/>
            <a:ext cx="5074920" cy="3273552"/>
          </a:xfrm>
          <a:prstGeom prst="roundRect">
            <a:avLst>
              <a:gd name="adj" fmla="val 5028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258568"/>
            <a:ext cx="1783080" cy="256032"/>
          </a:xfrm>
          <a:prstGeom prst="roundRect">
            <a:avLst>
              <a:gd name="adj" fmla="val 4285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28600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Similarity Control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9264" y="27614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space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1133856" y="3995928"/>
            <a:ext cx="1581912" cy="0"/>
          </a:xfrm>
          <a:prstGeom prst="line">
            <a:avLst/>
          </a:prstGeom>
          <a:noFill/>
          <a:ln w="12700">
            <a:solidFill>
              <a:srgbClr val="6D7C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" y="2926080"/>
            <a:ext cx="0" cy="1069848"/>
          </a:xfrm>
          <a:prstGeom prst="line">
            <a:avLst/>
          </a:prstGeom>
          <a:noFill/>
          <a:ln w="12700">
            <a:solidFill>
              <a:srgbClr val="6D7C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7028" y="3625596"/>
            <a:ext cx="100584" cy="100584"/>
          </a:xfrm>
          <a:prstGeom prst="ellipse">
            <a:avLst/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349300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650492" y="3406140"/>
            <a:ext cx="100584" cy="100584"/>
          </a:xfrm>
          <a:prstGeom prst="ellipse">
            <a:avLst/>
          </a:prstGeom>
          <a:solidFill>
            <a:srgbClr val="D87C6B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327355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125980" y="3186684"/>
            <a:ext cx="100584" cy="100584"/>
          </a:xfrm>
          <a:prstGeom prst="ellipse">
            <a:avLst/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30540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212848" y="2926080"/>
            <a:ext cx="0" cy="1143000"/>
          </a:xfrm>
          <a:prstGeom prst="line">
            <a:avLst/>
          </a:prstGeom>
          <a:noFill/>
          <a:ln w="12700">
            <a:solidFill>
              <a:srgbClr val="D87C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3312" y="4040565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구분이 애매함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907792" y="3291840"/>
            <a:ext cx="640080" cy="438912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33741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teacher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657600" y="27614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 space</a:t>
            </a:r>
            <a:endParaRPr lang="en-US" sz="990" dirty="0"/>
          </a:p>
        </p:txBody>
      </p:sp>
      <p:sp>
        <p:nvSpPr>
          <p:cNvPr id="28" name="Shape 26"/>
          <p:cNvSpPr/>
          <p:nvPr/>
        </p:nvSpPr>
        <p:spPr>
          <a:xfrm>
            <a:off x="3822192" y="3995928"/>
            <a:ext cx="1490472" cy="0"/>
          </a:xfrm>
          <a:prstGeom prst="line">
            <a:avLst/>
          </a:prstGeom>
          <a:noFill/>
          <a:ln w="12700">
            <a:solidFill>
              <a:srgbClr val="6D7C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22192" y="2926080"/>
            <a:ext cx="0" cy="1069848"/>
          </a:xfrm>
          <a:prstGeom prst="line">
            <a:avLst/>
          </a:prstGeom>
          <a:noFill/>
          <a:ln w="12700">
            <a:solidFill>
              <a:srgbClr val="6D7C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3068" y="3223260"/>
            <a:ext cx="100584" cy="100584"/>
          </a:xfrm>
          <a:prstGeom prst="ellipse">
            <a:avLst/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309067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229100" y="3479292"/>
            <a:ext cx="100584" cy="100584"/>
          </a:xfrm>
          <a:prstGeom prst="ellipse">
            <a:avLst/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9664" y="334670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777740" y="3113532"/>
            <a:ext cx="100584" cy="100584"/>
          </a:xfrm>
          <a:prstGeom prst="ellipse">
            <a:avLst/>
          </a:prstGeom>
          <a:solidFill>
            <a:srgbClr val="D87C6B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298094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877056" y="3127248"/>
            <a:ext cx="65836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2999232"/>
            <a:ext cx="420624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3904" y="4040565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유사성이 드러남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987552" y="43159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원래 입력 X만으로는 어려운 샘플을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privileged space X*에서 다시 본다.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teacher는 “무엇이 서로 비슷한가”를 알려주어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student가 잘못된 경계를 세우지 않도록 보정한다.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5934456" y="2084832"/>
            <a:ext cx="5404104" cy="3273552"/>
          </a:xfrm>
          <a:prstGeom prst="roundRect">
            <a:avLst>
              <a:gd name="adj" fmla="val 5028"/>
            </a:avLst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63056" y="2258568"/>
            <a:ext cx="1874520" cy="256032"/>
          </a:xfrm>
          <a:prstGeom prst="roundRect">
            <a:avLst>
              <a:gd name="adj" fmla="val 4285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22860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Knowledge Transfer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52360" y="2761488"/>
            <a:ext cx="21488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88936" y="2834640"/>
            <a:ext cx="207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Privileged rule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anchor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44384" y="3547872"/>
            <a:ext cx="1773936" cy="256032"/>
          </a:xfrm>
          <a:prstGeom prst="roundRect">
            <a:avLst>
              <a:gd name="adj" fmla="val 42857"/>
            </a:avLst>
          </a:prstGeom>
          <a:solidFill>
            <a:srgbClr val="F3D5C6"/>
          </a:solidFill>
          <a:ln w="12700">
            <a:solidFill>
              <a:srgbClr val="F3D5C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4384" y="3575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hint · explanation · prototype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03920" y="3511296"/>
            <a:ext cx="0" cy="329184"/>
          </a:xfrm>
          <a:prstGeom prst="line">
            <a:avLst/>
          </a:prstGeom>
          <a:noFill/>
          <a:ln w="12700">
            <a:solidFill>
              <a:srgbClr val="083C4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452360" y="3675888"/>
            <a:ext cx="21488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88936" y="3749040"/>
            <a:ext cx="2075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 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820656" y="3794760"/>
            <a:ext cx="640080" cy="384048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33888" y="3657600"/>
            <a:ext cx="667512" cy="65836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70464" y="3730752"/>
            <a:ext cx="557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99632" y="4590288"/>
            <a:ext cx="45262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467258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student가 따라 배우게 해 더 적은 데이터로도 빠르게 탐색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749808" y="5559552"/>
            <a:ext cx="10588752" cy="201168"/>
          </a:xfrm>
          <a:prstGeom prst="roundRect">
            <a:avLst>
              <a:gd name="adj" fmla="val 45455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" y="5609844"/>
            <a:ext cx="10222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예측 시점에는 X만 사용하고, 학습 과정에서만 결정 경계를 정교화한다.</a:t>
            </a:r>
            <a:endParaRPr lang="en-US" sz="1060" dirty="0"/>
          </a:p>
        </p:txBody>
      </p:sp>
      <p:sp>
        <p:nvSpPr>
          <p:cNvPr id="57" name="Text 55"/>
          <p:cNvSpPr/>
          <p:nvPr/>
        </p:nvSpPr>
        <p:spPr>
          <a:xfrm>
            <a:off x="713232" y="60350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 소스 | https://jmlr.org/papers/v16/vapnik15b.html</a:t>
            </a:r>
            <a:endParaRPr lang="en-US" sz="7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SVM+ 알고리즘 직관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privileged information으로 sample-wise difficulty를 추정하는 대표 구현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51592" y="338328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1592" y="37033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0680192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55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243584"/>
            <a:ext cx="10588752" cy="731520"/>
          </a:xfrm>
          <a:prstGeom prst="roundRect">
            <a:avLst>
              <a:gd name="adj" fmla="val 15000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62456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SVM+의 핵심: x*가 각 샘플의 오차(slack)를 직접 보정하는 correcting function을 제공한다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2103120"/>
            <a:ext cx="4800600" cy="3090672"/>
          </a:xfrm>
          <a:prstGeom prst="roundRect">
            <a:avLst>
              <a:gd name="adj" fmla="val 5325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276856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30428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SVM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15568" y="2834640"/>
            <a:ext cx="8686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2907792"/>
            <a:ext cx="795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X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084832" y="2889504"/>
            <a:ext cx="566928" cy="384048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724912"/>
            <a:ext cx="14173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9776" y="2798064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Max-margin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separator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279392" y="2889504"/>
            <a:ext cx="566928" cy="384048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2798064"/>
            <a:ext cx="384048" cy="60350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871216"/>
            <a:ext cx="310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ξᵢ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115568" y="3931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오차(slack variables)를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최소화하며</a:t>
            </a: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초평면을</a:t>
            </a: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찾는다.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각 샘플이 얼마나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어려운지에</a:t>
            </a: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</a:t>
            </a: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</a:t>
            </a: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teacher는 없다.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9864" y="2103120"/>
            <a:ext cx="5568696" cy="3090672"/>
          </a:xfrm>
          <a:prstGeom prst="roundRect">
            <a:avLst>
              <a:gd name="adj" fmla="val 5325"/>
            </a:avLst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8464" y="2276856"/>
            <a:ext cx="749808" cy="256032"/>
          </a:xfrm>
          <a:prstGeom prst="roundRect">
            <a:avLst>
              <a:gd name="adj" fmla="val 4285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98464" y="23042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SVM+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2779776"/>
            <a:ext cx="5486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85292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63056" y="3621024"/>
            <a:ext cx="5486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369417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84848" y="3035808"/>
            <a:ext cx="713232" cy="0"/>
          </a:xfrm>
          <a:prstGeom prst="line">
            <a:avLst/>
          </a:prstGeom>
          <a:noFill/>
          <a:ln w="12700">
            <a:solidFill>
              <a:srgbClr val="083C4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84848" y="3877056"/>
            <a:ext cx="713232" cy="0"/>
          </a:xfrm>
          <a:prstGeom prst="line">
            <a:avLst/>
          </a:prstGeom>
          <a:noFill/>
          <a:ln w="12700">
            <a:solidFill>
              <a:srgbClr val="D87C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35240" y="2907792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71816" y="2980944"/>
            <a:ext cx="161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g(x*)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28048" y="3163824"/>
            <a:ext cx="621792" cy="384048"/>
          </a:xfrm>
          <a:prstGeom prst="chevron">
            <a:avLst/>
          </a:prstGeom>
          <a:solidFill>
            <a:srgbClr val="F3D5C6"/>
          </a:solidFill>
          <a:ln w="12700">
            <a:solidFill>
              <a:srgbClr val="F3D5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82912" y="32461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10259568" y="2907792"/>
            <a:ext cx="768096" cy="98755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7C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96144" y="2980944"/>
            <a:ext cx="694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Difficulty-aware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ξᵢ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199632" y="41696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x*를 통해 “어떤 샘플이 어려운가”를 미리 예측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slack를 sample-wise로 조정해 학습 과정을 가이드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어려운 데이터에 더 많은 설명을 붙이는 직관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" y="5413248"/>
            <a:ext cx="10588752" cy="384048"/>
          </a:xfrm>
          <a:prstGeom prst="roundRect">
            <a:avLst>
              <a:gd name="adj" fmla="val 23810"/>
            </a:avLst>
          </a:prstGeom>
          <a:solidFill>
            <a:srgbClr val="F2F6F7"/>
          </a:solidFill>
          <a:ln w="12700">
            <a:solidFill>
              <a:srgbClr val="D4DD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7552" y="5477256"/>
            <a:ext cx="2331720" cy="256032"/>
          </a:xfrm>
          <a:prstGeom prst="roundRect">
            <a:avLst>
              <a:gd name="adj" fmla="val 42857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550468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학습 속도  O(1/√n)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557016" y="5477256"/>
            <a:ext cx="749808" cy="2743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6280" y="5477256"/>
            <a:ext cx="2971800" cy="256032"/>
          </a:xfrm>
          <a:prstGeom prst="roundRect">
            <a:avLst>
              <a:gd name="adj" fmla="val 42857"/>
            </a:avLst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550468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LUPI가 제시한 faster rate  O(1/n)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26680" y="554126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논문은 privileged teacher가 있을 때 더 빠른 수렴 가능성을 제시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713232" y="60350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 소스 | https://jmlr.org/papers/v16/vapnik15b.html</a:t>
            </a:r>
            <a:endParaRPr lang="en-US" sz="7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결론 및 시사점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040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논문이 현재 피부암 프레임워크의 Phase 4–5 해석에 중요한가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51592" y="338328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1592" y="37033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0680192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55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0140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243584"/>
            <a:ext cx="10588752" cy="731520"/>
          </a:xfrm>
          <a:prstGeom prst="roundRect">
            <a:avLst>
              <a:gd name="adj" fmla="val 15000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62456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시사점: inference 입력은 그대로 두고, 학습 단계에서만 privileged signal을 사용해 데이터 효율을 높일 수 있다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2084832"/>
            <a:ext cx="3337560" cy="1609344"/>
          </a:xfrm>
          <a:prstGeom prst="roundRect">
            <a:avLst>
              <a:gd name="adj" fmla="val 10227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효율성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008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양의 데이터로도 더 빠르게 좋은 함수를 찾을 수 있다는 </a:t>
            </a:r>
            <a:r>
              <a:rPr lang="en-US" sz="111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관점을</a:t>
            </a:r>
            <a:r>
              <a:rPr lang="en-US" sz="111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1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4425696" y="2084832"/>
            <a:ext cx="3337560" cy="1609344"/>
          </a:xfrm>
          <a:prstGeom prst="roundRect">
            <a:avLst>
              <a:gd name="adj" fmla="val 10227"/>
            </a:avLst>
          </a:prstGeom>
          <a:solidFill>
            <a:srgbClr val="EFE2C7"/>
          </a:solidFill>
          <a:ln w="12700">
            <a:solidFill>
              <a:srgbClr val="EFE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지능의 결합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0288" y="2560320"/>
            <a:ext cx="3008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설명·텍스트·힌트를 수학적 teacher signal로 바꾸어 모델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</a:t>
            </a: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2084832"/>
            <a:ext cx="3236976" cy="1609344"/>
          </a:xfrm>
          <a:prstGeom prst="roundRect">
            <a:avLst>
              <a:gd name="adj" fmla="val 10227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23113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가능성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6176" y="2560320"/>
            <a:ext cx="29077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진단, 멀티모달 학습, train/test 정보 비대칭 문제에 특히 잘 맞</a:t>
            </a:r>
            <a:r>
              <a:rPr lang="ko-KR" altLang="en-US" sz="1100" dirty="0">
                <a:solidFill>
                  <a:srgbClr val="0F49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3968496"/>
            <a:ext cx="10588752" cy="1609344"/>
          </a:xfrm>
          <a:prstGeom prst="roundRect">
            <a:avLst>
              <a:gd name="adj" fmla="val 10227"/>
            </a:avLst>
          </a:prstGeom>
          <a:solidFill>
            <a:srgbClr val="083C45"/>
          </a:solidFill>
          <a:ln w="12700">
            <a:solidFill>
              <a:srgbClr val="083C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연구로의 연결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" y="440740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8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LUPI를 SVM+ 그대로 가져오지 않고, modern multimodal representation learning으로 재해석한다.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4736592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4809744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lesion image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strict input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32888" y="4846320"/>
            <a:ext cx="502920" cy="329184"/>
          </a:xfrm>
          <a:prstGeom prst="chevron">
            <a:avLst/>
          </a:prstGeom>
          <a:solidFill>
            <a:srgbClr val="C7DDE1"/>
          </a:solidFill>
          <a:ln w="12700">
            <a:solidFill>
              <a:srgbClr val="C7DD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3824" y="4736592"/>
            <a:ext cx="1417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809744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X*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pathology 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87C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(iddx_full)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4846320"/>
            <a:ext cx="502920" cy="329184"/>
          </a:xfrm>
          <a:prstGeom prst="chevron">
            <a:avLst/>
          </a:prstGeom>
          <a:solidFill>
            <a:srgbClr val="C7DDE1"/>
          </a:solidFill>
          <a:ln w="12700">
            <a:solidFill>
              <a:srgbClr val="C7DD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67528" y="4736592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Text 28"/>
          <p:cNvSpPr/>
          <p:nvPr/>
        </p:nvSpPr>
        <p:spPr>
          <a:xfrm>
            <a:off x="5404104" y="48097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Auxiliary oracle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50608" y="4846320"/>
            <a:ext cx="502920" cy="329184"/>
          </a:xfrm>
          <a:prstGeom prst="chevron">
            <a:avLst/>
          </a:prstGeom>
          <a:solidFill>
            <a:srgbClr val="C7DDE1"/>
          </a:solidFill>
          <a:ln w="12700">
            <a:solidFill>
              <a:srgbClr val="C7DD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81544" y="4736592"/>
            <a:ext cx="10789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4809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15984" y="4846320"/>
            <a:ext cx="502920" cy="329184"/>
          </a:xfrm>
          <a:prstGeom prst="chevron">
            <a:avLst/>
          </a:prstGeom>
          <a:solidFill>
            <a:srgbClr val="C7DDE1"/>
          </a:solidFill>
          <a:ln w="12700">
            <a:solidFill>
              <a:srgbClr val="C7DD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46920" y="4736592"/>
            <a:ext cx="10789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83496" y="4809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" y="60350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 소스 | https://jmlr.org/papers/v16/vapnik15b.html</a:t>
            </a:r>
            <a:endParaRPr lang="en-US" sz="7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24D57-720A-9FD8-BCD3-423CED6F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FB97B3-C486-B60A-6966-565F566DC003}"/>
              </a:ext>
            </a:extLst>
          </p:cNvPr>
          <p:cNvSpPr/>
          <p:nvPr/>
        </p:nvSpPr>
        <p:spPr>
          <a:xfrm>
            <a:off x="502920" y="3108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</a:t>
            </a:r>
            <a:r>
              <a:rPr lang="ko-KR" altLang="en-US" sz="24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연구와 비교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D917B8-59AF-2E62-F91C-05B8CA63DA66}"/>
              </a:ext>
            </a:extLst>
          </p:cNvPr>
          <p:cNvSpPr/>
          <p:nvPr/>
        </p:nvSpPr>
        <p:spPr>
          <a:xfrm>
            <a:off x="502920" y="7040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논문의 핵심 </a:t>
            </a:r>
            <a:r>
              <a:rPr lang="ko-KR" altLang="en-US" sz="1050" dirty="0" err="1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매커니즘과</a:t>
            </a:r>
            <a:r>
              <a:rPr lang="ko-KR" alt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 논문의 비교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EDCC20-EF66-9430-F9FC-283432D5DDDC}"/>
              </a:ext>
            </a:extLst>
          </p:cNvPr>
          <p:cNvSpPr/>
          <p:nvPr/>
        </p:nvSpPr>
        <p:spPr>
          <a:xfrm>
            <a:off x="10451592" y="338328"/>
            <a:ext cx="1042416" cy="256032"/>
          </a:xfrm>
          <a:prstGeom prst="roundRect">
            <a:avLst>
              <a:gd name="adj" fmla="val 21429"/>
            </a:avLst>
          </a:prstGeom>
          <a:solidFill>
            <a:srgbClr val="D8EEF1"/>
          </a:solidFill>
          <a:ln w="12700">
            <a:solidFill>
              <a:srgbClr val="D8EEF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742147-C6E5-FF2E-0EAB-CBF5C23BCB50}"/>
              </a:ext>
            </a:extLst>
          </p:cNvPr>
          <p:cNvSpPr/>
          <p:nvPr/>
        </p:nvSpPr>
        <p:spPr>
          <a:xfrm>
            <a:off x="10451592" y="37033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23794FC-7F32-907E-BC80-DEAB2EDA7D60}"/>
              </a:ext>
            </a:extLst>
          </p:cNvPr>
          <p:cNvSpPr/>
          <p:nvPr/>
        </p:nvSpPr>
        <p:spPr>
          <a:xfrm>
            <a:off x="502920" y="6419088"/>
            <a:ext cx="10680192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CB1CC1-CAF2-BCE5-C89B-F72D38D2C12C}"/>
              </a:ext>
            </a:extLst>
          </p:cNvPr>
          <p:cNvSpPr/>
          <p:nvPr/>
        </p:nvSpPr>
        <p:spPr>
          <a:xfrm>
            <a:off x="502920" y="6455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2C279A-5D08-ABD9-1BC9-BF1C500E75B5}"/>
              </a:ext>
            </a:extLst>
          </p:cNvPr>
          <p:cNvSpPr/>
          <p:nvPr/>
        </p:nvSpPr>
        <p:spPr>
          <a:xfrm>
            <a:off x="11201400" y="6437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25E</a:t>
            </a:r>
            <a:endParaRPr lang="en-US" sz="10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4656E2A-855F-6829-76B4-743E1EDDAAF2}"/>
              </a:ext>
            </a:extLst>
          </p:cNvPr>
          <p:cNvSpPr/>
          <p:nvPr/>
        </p:nvSpPr>
        <p:spPr>
          <a:xfrm>
            <a:off x="713232" y="60350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확인 소스 | https://jmlr.org/papers/v16/vapnik15b.html</a:t>
            </a:r>
            <a:endParaRPr lang="en-US" sz="71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8" name="표 37">
                <a:extLst>
                  <a:ext uri="{FF2B5EF4-FFF2-40B4-BE49-F238E27FC236}">
                    <a16:creationId xmlns:a16="http://schemas.microsoft.com/office/drawing/2014/main" id="{D4443046-8EA9-CD03-BD58-2CB0B71A74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989974"/>
                  </p:ext>
                </p:extLst>
              </p:nvPr>
            </p:nvGraphicFramePr>
            <p:xfrm>
              <a:off x="1354335" y="1088136"/>
              <a:ext cx="9483333" cy="4524719"/>
            </p:xfrm>
            <a:graphic>
              <a:graphicData uri="http://schemas.openxmlformats.org/drawingml/2006/table">
                <a:tbl>
                  <a:tblPr firstRow="1" firstCol="1">
                    <a:tableStyleId>{5940675A-B579-460E-94D1-54222C63F5DA}</a:tableStyleId>
                  </a:tblPr>
                  <a:tblGrid>
                    <a:gridCol w="1758229">
                      <a:extLst>
                        <a:ext uri="{9D8B030D-6E8A-4147-A177-3AD203B41FA5}">
                          <a16:colId xmlns:a16="http://schemas.microsoft.com/office/drawing/2014/main" val="187085775"/>
                        </a:ext>
                      </a:extLst>
                    </a:gridCol>
                    <a:gridCol w="3522467">
                      <a:extLst>
                        <a:ext uri="{9D8B030D-6E8A-4147-A177-3AD203B41FA5}">
                          <a16:colId xmlns:a16="http://schemas.microsoft.com/office/drawing/2014/main" val="3048773223"/>
                        </a:ext>
                      </a:extLst>
                    </a:gridCol>
                    <a:gridCol w="4202637">
                      <a:extLst>
                        <a:ext uri="{9D8B030D-6E8A-4147-A177-3AD203B41FA5}">
                          <a16:colId xmlns:a16="http://schemas.microsoft.com/office/drawing/2014/main" val="851943907"/>
                        </a:ext>
                      </a:extLst>
                    </a:gridCol>
                  </a:tblGrid>
                  <a:tr h="15767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600" b="1" dirty="0"/>
                            <a:t>항목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 err="1"/>
                            <a:t>Vapnik</a:t>
                          </a:r>
                          <a:r>
                            <a:rPr lang="en-US" sz="1600" b="1" dirty="0"/>
                            <a:t> 2015 (LUPI)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600" b="1" dirty="0"/>
                            <a:t>내 논문</a:t>
                          </a:r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3752503449"/>
                      </a:ext>
                    </a:extLst>
                  </a:tr>
                  <a:tr h="8679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기본 문제 설정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고전적 학습은 </a:t>
                          </a:r>
                          <a:r>
                            <a:rPr lang="en-US" altLang="ko-KR" sz="900" b="1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altLang="ko-KR" sz="900" b="1" dirty="0"/>
                            <a:t>)</a:t>
                          </a:r>
                          <a:r>
                            <a:rPr lang="ko-KR" altLang="en-US" sz="900" b="1" dirty="0"/>
                            <a:t>로 배우지만</a:t>
                          </a:r>
                          <a:r>
                            <a:rPr lang="en-US" altLang="ko-KR" sz="900" b="1" dirty="0"/>
                            <a:t>,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LUPI</a:t>
                          </a:r>
                          <a:r>
                            <a:rPr lang="ko-KR" altLang="en-US" sz="900" b="1" dirty="0"/>
                            <a:t>는 학습 시 </a:t>
                          </a:r>
                          <a:r>
                            <a:rPr lang="en-US" altLang="ko-KR" sz="900" b="1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altLang="ko-KR" sz="900" b="1" dirty="0"/>
                            <a:t>)</a:t>
                          </a:r>
                          <a:r>
                            <a:rPr lang="ko-KR" altLang="en-US" sz="900" b="1" dirty="0"/>
                            <a:t>를 사용</a:t>
                          </a:r>
                          <a:r>
                            <a:rPr lang="en-US" altLang="ko-KR" sz="900" b="1" dirty="0"/>
                            <a:t>, </a:t>
                          </a:r>
                          <a:r>
                            <a:rPr lang="ko-KR" altLang="en-US" sz="900" b="1" dirty="0"/>
                            <a:t>테스트 시에는 </a:t>
                          </a:r>
                          <a:r>
                            <a:rPr lang="en-US" altLang="ko-KR" sz="900" b="1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altLang="ko-KR" sz="900" b="1" dirty="0"/>
                            <a:t>)</a:t>
                          </a:r>
                          <a:r>
                            <a:rPr lang="ko-KR" altLang="en-US" sz="900" b="1" dirty="0"/>
                            <a:t>만 사용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학습 시에는 </a:t>
                          </a:r>
                          <a:r>
                            <a:rPr lang="en-US" sz="900" b="1" dirty="0"/>
                            <a:t>lesion image + </a:t>
                          </a:r>
                          <a:r>
                            <a:rPr lang="en-US" sz="900" b="1" dirty="0" err="1"/>
                            <a:t>strict_main_input</a:t>
                          </a:r>
                          <a:r>
                            <a:rPr lang="en-US" sz="900" b="1" dirty="0"/>
                            <a:t>(51) + </a:t>
                          </a:r>
                          <a:r>
                            <a:rPr lang="en-US" sz="900" b="1" dirty="0" err="1"/>
                            <a:t>iddx_full</a:t>
                          </a:r>
                          <a:r>
                            <a:rPr lang="ko-KR" altLang="en-US" sz="900" b="1" dirty="0"/>
                            <a:t>을 활용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추론 시에는 </a:t>
                          </a:r>
                          <a:r>
                            <a:rPr lang="en-US" sz="900" b="1" dirty="0"/>
                            <a:t>lesion image + </a:t>
                          </a:r>
                          <a:r>
                            <a:rPr lang="en-US" sz="900" b="1" dirty="0" err="1"/>
                            <a:t>strict_main_input</a:t>
                          </a:r>
                          <a:r>
                            <a:rPr lang="en-US" sz="900" b="1" dirty="0"/>
                            <a:t>(51)</a:t>
                          </a:r>
                          <a:r>
                            <a:rPr lang="ko-KR" altLang="en-US" sz="900" b="1" dirty="0"/>
                            <a:t>만 사용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즉</a:t>
                          </a:r>
                          <a:r>
                            <a:rPr lang="en-US" altLang="ko-KR" sz="900" b="1" dirty="0"/>
                            <a:t>,</a:t>
                          </a:r>
                          <a:r>
                            <a:rPr lang="ko-KR" altLang="en-US" sz="900" b="1" dirty="0"/>
                            <a:t> </a:t>
                          </a:r>
                          <a:r>
                            <a:rPr lang="en-US" sz="900" b="1" dirty="0"/>
                            <a:t>train/test </a:t>
                          </a:r>
                          <a:r>
                            <a:rPr lang="ko-KR" altLang="en-US" sz="900" b="1" dirty="0"/>
                            <a:t>입력 비대칭 구조다</a:t>
                          </a:r>
                          <a:r>
                            <a:rPr lang="en-US" altLang="ko-KR" sz="900" b="1" dirty="0"/>
                            <a:t>.</a:t>
                          </a:r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1034211003"/>
                      </a:ext>
                    </a:extLst>
                  </a:tr>
                  <a:tr h="631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/>
                            <a:t>논문의 목표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privileged information</a:t>
                          </a:r>
                          <a:r>
                            <a:rPr lang="ko-KR" altLang="en-US" sz="900" b="1" dirty="0"/>
                            <a:t>을 통해 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학생의 학습 속도와 일반화를 개선하는 새로운 패러다임을 제시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inference strictness</a:t>
                          </a:r>
                          <a:r>
                            <a:rPr lang="ko-KR" altLang="en-US" sz="900" b="1" dirty="0"/>
                            <a:t>를 깨지 않으면서도 병리 의미를 </a:t>
                          </a:r>
                          <a:r>
                            <a:rPr lang="en-US" altLang="ko-KR" sz="900" b="1" dirty="0"/>
                            <a:t>representation </a:t>
                          </a:r>
                          <a:r>
                            <a:rPr lang="ko-KR" altLang="en-US" sz="900" b="1" dirty="0"/>
                            <a:t>수준에 남겨 피부암 악성 분류 성능과 안정성을 높이려 함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1415610740"/>
                      </a:ext>
                    </a:extLst>
                  </a:tr>
                  <a:tr h="631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교사</a:t>
                          </a:r>
                          <a:r>
                            <a:rPr lang="en-US" altLang="ko-KR" sz="900" b="1" dirty="0"/>
                            <a:t>-</a:t>
                          </a:r>
                          <a:r>
                            <a:rPr lang="ko-KR" altLang="en-US" sz="900" b="1" dirty="0"/>
                            <a:t>학생 관점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Intelligent Teacher</a:t>
                          </a:r>
                          <a:r>
                            <a:rPr lang="ko-KR" altLang="en-US" sz="900" b="1" dirty="0"/>
                            <a:t>가 추가 설명 </a:t>
                          </a:r>
                          <a:r>
                            <a:rPr lang="en-US" altLang="ko-KR" sz="900" b="1" dirty="0"/>
                            <a:t>(x^*)</a:t>
                          </a:r>
                          <a:r>
                            <a:rPr lang="ko-KR" altLang="en-US" sz="900" b="1" dirty="0"/>
                            <a:t>를 훈련 시 제공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900" b="1" dirty="0" err="1"/>
                            <a:t>iddx_full</a:t>
                          </a:r>
                          <a:r>
                            <a:rPr lang="en-US" sz="900" b="1" dirty="0"/>
                            <a:t> → </a:t>
                          </a:r>
                          <a:r>
                            <a:rPr lang="en-US" sz="900" b="1" dirty="0" err="1"/>
                            <a:t>ClinicalBERT</a:t>
                          </a:r>
                          <a:r>
                            <a:rPr lang="en-US" sz="900" b="1" dirty="0"/>
                            <a:t> </a:t>
                          </a:r>
                          <a:r>
                            <a:rPr lang="ko-KR" altLang="en-US" sz="900" b="1" dirty="0" err="1"/>
                            <a:t>임베딩</a:t>
                          </a:r>
                          <a:r>
                            <a:rPr lang="ko-KR" altLang="en-US" sz="900" b="1" dirty="0"/>
                            <a:t> → </a:t>
                          </a:r>
                          <a:r>
                            <a:rPr lang="en-US" sz="900" b="1" dirty="0"/>
                            <a:t>oracle prototype/anchor</a:t>
                          </a:r>
                          <a:r>
                            <a:rPr lang="ko-KR" altLang="en-US" sz="900" b="1" dirty="0"/>
                            <a:t>가 </a:t>
                          </a:r>
                          <a:r>
                            <a:rPr lang="en-US" sz="900" b="1" dirty="0"/>
                            <a:t>teacher </a:t>
                          </a:r>
                          <a:r>
                            <a:rPr lang="ko-KR" altLang="en-US" sz="900" b="1" dirty="0"/>
                            <a:t>역할을 하고</a:t>
                          </a:r>
                          <a:r>
                            <a:rPr lang="en-US" altLang="ko-KR" sz="900" b="1" dirty="0"/>
                            <a:t>, </a:t>
                          </a:r>
                          <a:r>
                            <a:rPr lang="en-US" sz="900" b="1" dirty="0"/>
                            <a:t>multimodal base model</a:t>
                          </a:r>
                          <a:r>
                            <a:rPr lang="ko-KR" altLang="en-US" sz="900" b="1" dirty="0"/>
                            <a:t>이 </a:t>
                          </a:r>
                          <a:r>
                            <a:rPr lang="en-US" sz="900" b="1" dirty="0"/>
                            <a:t>student </a:t>
                          </a:r>
                          <a:r>
                            <a:rPr lang="ko-KR" altLang="en-US" sz="900" b="1" dirty="0"/>
                            <a:t>역할을 함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145422632"/>
                      </a:ext>
                    </a:extLst>
                  </a:tr>
                  <a:tr h="7495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핵심 메커니즘 </a:t>
                          </a:r>
                          <a:r>
                            <a:rPr lang="en-US" altLang="ko-KR" sz="900" b="1" dirty="0"/>
                            <a:t>1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</a:rPr>
                            <a:t>Similarity control: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학생이 샘플 간 유사성을 보는 방식을 </a:t>
                          </a:r>
                          <a:r>
                            <a:rPr lang="en-US" altLang="ko-KR" sz="900" b="1" dirty="0"/>
                            <a:t>privileged info</a:t>
                          </a:r>
                          <a:r>
                            <a:rPr lang="ko-KR" altLang="en-US" sz="900" b="1" dirty="0"/>
                            <a:t>로 교정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대표 구현이 </a:t>
                          </a:r>
                          <a:r>
                            <a:rPr lang="en-US" altLang="ko-KR" sz="900" b="1" dirty="0"/>
                            <a:t>SVM+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</a:rPr>
                            <a:t>correction head: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완전히 같은 형태는 아니지만</a:t>
                          </a:r>
                          <a:r>
                            <a:rPr lang="en-US" altLang="ko-KR" sz="900" b="1" dirty="0"/>
                            <a:t>, correction head</a:t>
                          </a:r>
                          <a:r>
                            <a:rPr lang="ko-KR" altLang="en-US" sz="900" b="1" dirty="0"/>
                            <a:t>가 </a:t>
                          </a:r>
                          <a:r>
                            <a:rPr lang="en-US" altLang="ko-KR" sz="900" b="1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𝒃𝒂𝒔𝒆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900" b="1" dirty="0"/>
                            <a:t>)</a:t>
                          </a:r>
                          <a:r>
                            <a:rPr lang="ko-KR" altLang="en-US" sz="900" b="1" dirty="0"/>
                            <a:t>를 미세 조정해 경계의 흔들림을 줄인다는 점에서 “학생 표현</a:t>
                          </a:r>
                          <a:r>
                            <a:rPr lang="en-US" altLang="ko-KR" sz="900" b="1" dirty="0"/>
                            <a:t>/</a:t>
                          </a:r>
                          <a:r>
                            <a:rPr lang="ko-KR" altLang="en-US" sz="900" b="1" dirty="0"/>
                            <a:t>판단을 </a:t>
                          </a:r>
                          <a:r>
                            <a:rPr lang="ko-KR" altLang="en-US" sz="900" b="1" dirty="0" err="1"/>
                            <a:t>교정”하는</a:t>
                          </a:r>
                          <a:r>
                            <a:rPr lang="ko-KR" altLang="en-US" sz="900" b="1" dirty="0"/>
                            <a:t> 역할을 일부 공유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2298552216"/>
                      </a:ext>
                    </a:extLst>
                  </a:tr>
                  <a:tr h="7495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핵심 메커니즘 </a:t>
                          </a:r>
                          <a:r>
                            <a:rPr lang="en-US" altLang="ko-KR" sz="900" b="1" dirty="0"/>
                            <a:t>2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900" b="1" dirty="0">
                              <a:solidFill>
                                <a:srgbClr val="FF0000"/>
                              </a:solidFill>
                            </a:rPr>
                            <a:t>Knowledge transfer: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900" b="1" dirty="0"/>
                            <a:t>privileged information </a:t>
                          </a:r>
                          <a:r>
                            <a:rPr lang="ko-KR" altLang="en-US" sz="900" b="1" dirty="0"/>
                            <a:t>공간의 지식을 </a:t>
                          </a:r>
                          <a:r>
                            <a:rPr lang="en-US" sz="900" b="1" dirty="0"/>
                            <a:t>decision space</a:t>
                          </a:r>
                          <a:r>
                            <a:rPr lang="ko-KR" altLang="en-US" sz="900" b="1" dirty="0"/>
                            <a:t>로 전달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</a:rPr>
                            <a:t>auxiliary oracle alignment: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altLang="ko-KR" sz="900" b="1" dirty="0" err="1"/>
                            <a:t>iddx_full</a:t>
                          </a:r>
                          <a:r>
                            <a:rPr lang="ko-KR" altLang="en-US" sz="900" b="1" dirty="0"/>
                            <a:t>의 병리 의미를 </a:t>
                          </a:r>
                          <a:r>
                            <a:rPr lang="en-US" altLang="ko-KR" sz="900" b="1" dirty="0"/>
                            <a:t>oracle prototype</a:t>
                          </a:r>
                          <a:r>
                            <a:rPr lang="ko-KR" altLang="en-US" sz="900" b="1" dirty="0"/>
                            <a:t>으로 만들고</a:t>
                          </a:r>
                          <a:r>
                            <a:rPr lang="en-US" altLang="ko-KR" sz="900" b="1" dirty="0"/>
                            <a:t>,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𝒃𝒂𝒔𝒆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900" b="1" dirty="0"/>
                            <a:t>)</a:t>
                          </a:r>
                          <a:r>
                            <a:rPr lang="ko-KR" altLang="en-US" sz="900" b="1" dirty="0"/>
                            <a:t>를 </a:t>
                          </a:r>
                          <a:r>
                            <a:rPr lang="en-US" altLang="ko-KR" sz="900" b="1" dirty="0"/>
                            <a:t>cosine alignment</a:t>
                          </a:r>
                          <a:r>
                            <a:rPr lang="ko-KR" altLang="en-US" sz="900" b="1" dirty="0"/>
                            <a:t>로 그 </a:t>
                          </a:r>
                          <a:r>
                            <a:rPr lang="ko-KR" altLang="en-US" sz="900" b="1" dirty="0" err="1"/>
                            <a:t>의미축에</a:t>
                          </a:r>
                          <a:r>
                            <a:rPr lang="ko-KR" altLang="en-US" sz="900" b="1" dirty="0"/>
                            <a:t> 정렬시킴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550436445"/>
                      </a:ext>
                    </a:extLst>
                  </a:tr>
                  <a:tr h="631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입력 공간 관계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altLang="ko-KR" sz="9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ko-KR" sz="9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900" b="1" dirty="0"/>
                            <a:t>이며 일반적으로 두 공간은 다를 수 있음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9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ko-KR" altLang="en-US" sz="900" b="1" dirty="0"/>
                            <a:t> 는 이미지</a:t>
                          </a:r>
                          <a:r>
                            <a:rPr lang="en-US" altLang="ko-KR" sz="900" b="1" dirty="0"/>
                            <a:t>+strict tabular </a:t>
                          </a:r>
                          <a:r>
                            <a:rPr lang="ko-KR" altLang="en-US" sz="900" b="1" dirty="0" err="1"/>
                            <a:t>멀티모달</a:t>
                          </a:r>
                          <a:r>
                            <a:rPr lang="ko-KR" altLang="en-US" sz="900" b="1" dirty="0"/>
                            <a:t> 입력</a:t>
                          </a:r>
                          <a:r>
                            <a:rPr lang="en-US" altLang="ko-KR" sz="900" b="1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ko-KR" sz="9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900" b="1" dirty="0"/>
                            <a:t>는 병리 문자열 </a:t>
                          </a:r>
                          <a:r>
                            <a:rPr lang="en-US" altLang="ko-KR" sz="900" b="1" dirty="0" err="1"/>
                            <a:t>iddx_full</a:t>
                          </a:r>
                          <a:r>
                            <a:rPr lang="ko-KR" altLang="en-US" sz="900" b="1" dirty="0"/>
                            <a:t>의 텍스트 </a:t>
                          </a:r>
                          <a:r>
                            <a:rPr lang="ko-KR" altLang="en-US" sz="900" b="1" dirty="0" err="1"/>
                            <a:t>임베딩</a:t>
                          </a:r>
                          <a:r>
                            <a:rPr lang="en-US" altLang="ko-KR" sz="900" b="1" dirty="0"/>
                            <a:t>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공간이 완전히 다름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26522819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8" name="표 37">
                <a:extLst>
                  <a:ext uri="{FF2B5EF4-FFF2-40B4-BE49-F238E27FC236}">
                    <a16:creationId xmlns:a16="http://schemas.microsoft.com/office/drawing/2014/main" id="{D4443046-8EA9-CD03-BD58-2CB0B71A74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989974"/>
                  </p:ext>
                </p:extLst>
              </p:nvPr>
            </p:nvGraphicFramePr>
            <p:xfrm>
              <a:off x="1354335" y="1088136"/>
              <a:ext cx="9483333" cy="4524719"/>
            </p:xfrm>
            <a:graphic>
              <a:graphicData uri="http://schemas.openxmlformats.org/drawingml/2006/table">
                <a:tbl>
                  <a:tblPr firstRow="1" firstCol="1">
                    <a:tableStyleId>{5940675A-B579-460E-94D1-54222C63F5DA}</a:tableStyleId>
                  </a:tblPr>
                  <a:tblGrid>
                    <a:gridCol w="1758229">
                      <a:extLst>
                        <a:ext uri="{9D8B030D-6E8A-4147-A177-3AD203B41FA5}">
                          <a16:colId xmlns:a16="http://schemas.microsoft.com/office/drawing/2014/main" val="187085775"/>
                        </a:ext>
                      </a:extLst>
                    </a:gridCol>
                    <a:gridCol w="3522467">
                      <a:extLst>
                        <a:ext uri="{9D8B030D-6E8A-4147-A177-3AD203B41FA5}">
                          <a16:colId xmlns:a16="http://schemas.microsoft.com/office/drawing/2014/main" val="3048773223"/>
                        </a:ext>
                      </a:extLst>
                    </a:gridCol>
                    <a:gridCol w="4202637">
                      <a:extLst>
                        <a:ext uri="{9D8B030D-6E8A-4147-A177-3AD203B41FA5}">
                          <a16:colId xmlns:a16="http://schemas.microsoft.com/office/drawing/2014/main" val="851943907"/>
                        </a:ext>
                      </a:extLst>
                    </a:gridCol>
                  </a:tblGrid>
                  <a:tr h="2640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600" b="1" dirty="0"/>
                            <a:t>항목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b="1" dirty="0" err="1"/>
                            <a:t>Vapnik</a:t>
                          </a:r>
                          <a:r>
                            <a:rPr lang="en-US" sz="1600" b="1" dirty="0"/>
                            <a:t> 2015 (LUPI)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600" b="1" dirty="0"/>
                            <a:t>내 논문</a:t>
                          </a:r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3752503449"/>
                      </a:ext>
                    </a:extLst>
                  </a:tr>
                  <a:tr h="8679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기본 문제 설정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0239" marR="20239" marT="10119" marB="10119" anchor="ctr">
                        <a:blipFill>
                          <a:blip r:embed="rId3"/>
                          <a:stretch>
                            <a:fillRect l="-50000" t="-35664" r="-119723" b="-3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학습 시에는 </a:t>
                          </a:r>
                          <a:r>
                            <a:rPr lang="en-US" sz="900" b="1" dirty="0"/>
                            <a:t>lesion image + </a:t>
                          </a:r>
                          <a:r>
                            <a:rPr lang="en-US" sz="900" b="1" dirty="0" err="1"/>
                            <a:t>strict_main_input</a:t>
                          </a:r>
                          <a:r>
                            <a:rPr lang="en-US" sz="900" b="1" dirty="0"/>
                            <a:t>(51) + </a:t>
                          </a:r>
                          <a:r>
                            <a:rPr lang="en-US" sz="900" b="1" dirty="0" err="1"/>
                            <a:t>iddx_full</a:t>
                          </a:r>
                          <a:r>
                            <a:rPr lang="ko-KR" altLang="en-US" sz="900" b="1" dirty="0"/>
                            <a:t>을 활용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추론 시에는 </a:t>
                          </a:r>
                          <a:r>
                            <a:rPr lang="en-US" sz="900" b="1" dirty="0"/>
                            <a:t>lesion image + </a:t>
                          </a:r>
                          <a:r>
                            <a:rPr lang="en-US" sz="900" b="1" dirty="0" err="1"/>
                            <a:t>strict_main_input</a:t>
                          </a:r>
                          <a:r>
                            <a:rPr lang="en-US" sz="900" b="1" dirty="0"/>
                            <a:t>(51)</a:t>
                          </a:r>
                          <a:r>
                            <a:rPr lang="ko-KR" altLang="en-US" sz="900" b="1" dirty="0"/>
                            <a:t>만 사용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즉</a:t>
                          </a:r>
                          <a:r>
                            <a:rPr lang="en-US" altLang="ko-KR" sz="900" b="1" dirty="0"/>
                            <a:t>,</a:t>
                          </a:r>
                          <a:r>
                            <a:rPr lang="ko-KR" altLang="en-US" sz="900" b="1" dirty="0"/>
                            <a:t> </a:t>
                          </a:r>
                          <a:r>
                            <a:rPr lang="en-US" sz="900" b="1" dirty="0"/>
                            <a:t>train/test </a:t>
                          </a:r>
                          <a:r>
                            <a:rPr lang="ko-KR" altLang="en-US" sz="900" b="1" dirty="0"/>
                            <a:t>입력 비대칭 구조다</a:t>
                          </a:r>
                          <a:r>
                            <a:rPr lang="en-US" altLang="ko-KR" sz="900" b="1" dirty="0"/>
                            <a:t>.</a:t>
                          </a:r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1034211003"/>
                      </a:ext>
                    </a:extLst>
                  </a:tr>
                  <a:tr h="631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/>
                            <a:t>논문의 목표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privileged information</a:t>
                          </a:r>
                          <a:r>
                            <a:rPr lang="ko-KR" altLang="en-US" sz="900" b="1" dirty="0"/>
                            <a:t>을 통해 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학생의 학습 속도와 일반화를 개선하는 새로운 패러다임을 제시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inference strictness</a:t>
                          </a:r>
                          <a:r>
                            <a:rPr lang="ko-KR" altLang="en-US" sz="900" b="1" dirty="0"/>
                            <a:t>를 깨지 않으면서도 병리 의미를 </a:t>
                          </a:r>
                          <a:r>
                            <a:rPr lang="en-US" altLang="ko-KR" sz="900" b="1" dirty="0"/>
                            <a:t>representation </a:t>
                          </a:r>
                          <a:r>
                            <a:rPr lang="ko-KR" altLang="en-US" sz="900" b="1" dirty="0"/>
                            <a:t>수준에 남겨 피부암 악성 분류 성능과 안정성을 높이려 함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1415610740"/>
                      </a:ext>
                    </a:extLst>
                  </a:tr>
                  <a:tr h="631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교사</a:t>
                          </a:r>
                          <a:r>
                            <a:rPr lang="en-US" altLang="ko-KR" sz="900" b="1" dirty="0"/>
                            <a:t>-</a:t>
                          </a:r>
                          <a:r>
                            <a:rPr lang="ko-KR" altLang="en-US" sz="900" b="1" dirty="0"/>
                            <a:t>학생 관점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/>
                            <a:t>Intelligent Teacher</a:t>
                          </a:r>
                          <a:r>
                            <a:rPr lang="ko-KR" altLang="en-US" sz="900" b="1" dirty="0"/>
                            <a:t>가 추가 설명 </a:t>
                          </a:r>
                          <a:r>
                            <a:rPr lang="en-US" altLang="ko-KR" sz="900" b="1" dirty="0"/>
                            <a:t>(x^*)</a:t>
                          </a:r>
                          <a:r>
                            <a:rPr lang="ko-KR" altLang="en-US" sz="900" b="1" dirty="0"/>
                            <a:t>를 훈련 시 제공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900" b="1" dirty="0" err="1"/>
                            <a:t>iddx_full</a:t>
                          </a:r>
                          <a:r>
                            <a:rPr lang="en-US" sz="900" b="1" dirty="0"/>
                            <a:t> → </a:t>
                          </a:r>
                          <a:r>
                            <a:rPr lang="en-US" sz="900" b="1" dirty="0" err="1"/>
                            <a:t>ClinicalBERT</a:t>
                          </a:r>
                          <a:r>
                            <a:rPr lang="en-US" sz="900" b="1" dirty="0"/>
                            <a:t> </a:t>
                          </a:r>
                          <a:r>
                            <a:rPr lang="ko-KR" altLang="en-US" sz="900" b="1" dirty="0" err="1"/>
                            <a:t>임베딩</a:t>
                          </a:r>
                          <a:r>
                            <a:rPr lang="ko-KR" altLang="en-US" sz="900" b="1" dirty="0"/>
                            <a:t> → </a:t>
                          </a:r>
                          <a:r>
                            <a:rPr lang="en-US" sz="900" b="1" dirty="0"/>
                            <a:t>oracle prototype/anchor</a:t>
                          </a:r>
                          <a:r>
                            <a:rPr lang="ko-KR" altLang="en-US" sz="900" b="1" dirty="0"/>
                            <a:t>가 </a:t>
                          </a:r>
                          <a:r>
                            <a:rPr lang="en-US" sz="900" b="1" dirty="0"/>
                            <a:t>teacher </a:t>
                          </a:r>
                          <a:r>
                            <a:rPr lang="ko-KR" altLang="en-US" sz="900" b="1" dirty="0"/>
                            <a:t>역할을 하고</a:t>
                          </a:r>
                          <a:r>
                            <a:rPr lang="en-US" altLang="ko-KR" sz="900" b="1" dirty="0"/>
                            <a:t>, </a:t>
                          </a:r>
                          <a:r>
                            <a:rPr lang="en-US" sz="900" b="1" dirty="0"/>
                            <a:t>multimodal base model</a:t>
                          </a:r>
                          <a:r>
                            <a:rPr lang="ko-KR" altLang="en-US" sz="900" b="1" dirty="0"/>
                            <a:t>이 </a:t>
                          </a:r>
                          <a:r>
                            <a:rPr lang="en-US" sz="900" b="1" dirty="0"/>
                            <a:t>student </a:t>
                          </a:r>
                          <a:r>
                            <a:rPr lang="ko-KR" altLang="en-US" sz="900" b="1" dirty="0"/>
                            <a:t>역할을 함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extLst>
                      <a:ext uri="{0D108BD9-81ED-4DB2-BD59-A6C34878D82A}">
                        <a16:rowId xmlns:a16="http://schemas.microsoft.com/office/drawing/2014/main" val="145422632"/>
                      </a:ext>
                    </a:extLst>
                  </a:tr>
                  <a:tr h="7495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핵심 메커니즘 </a:t>
                          </a:r>
                          <a:r>
                            <a:rPr lang="en-US" altLang="ko-KR" sz="900" b="1" dirty="0"/>
                            <a:t>1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ko-KR" sz="900" b="1" dirty="0">
                              <a:solidFill>
                                <a:srgbClr val="FF0000"/>
                              </a:solidFill>
                            </a:rPr>
                            <a:t>Similarity control: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학생이 샘플 간 유사성을 보는 방식을 </a:t>
                          </a:r>
                          <a:r>
                            <a:rPr lang="en-US" altLang="ko-KR" sz="900" b="1" dirty="0"/>
                            <a:t>privileged info</a:t>
                          </a:r>
                          <a:r>
                            <a:rPr lang="ko-KR" altLang="en-US" sz="900" b="1" dirty="0"/>
                            <a:t>로 교정</a:t>
                          </a:r>
                          <a:endParaRPr lang="en-US" altLang="ko-KR" sz="900" b="1" dirty="0"/>
                        </a:p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대표 구현이 </a:t>
                          </a:r>
                          <a:r>
                            <a:rPr lang="en-US" altLang="ko-KR" sz="900" b="1" dirty="0"/>
                            <a:t>SVM+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0239" marR="20239" marT="10119" marB="10119" anchor="ctr">
                        <a:blipFill>
                          <a:blip r:embed="rId3"/>
                          <a:stretch>
                            <a:fillRect l="-125652" t="-326016" r="-290" b="-1861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8552216"/>
                      </a:ext>
                    </a:extLst>
                  </a:tr>
                  <a:tr h="7495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핵심 메커니즘 </a:t>
                          </a:r>
                          <a:r>
                            <a:rPr lang="en-US" altLang="ko-KR" sz="900" b="1" dirty="0"/>
                            <a:t>2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900" b="1" dirty="0">
                              <a:solidFill>
                                <a:srgbClr val="FF0000"/>
                              </a:solidFill>
                            </a:rPr>
                            <a:t>Knowledge transfer: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900" b="1" dirty="0"/>
                            <a:t>privileged information </a:t>
                          </a:r>
                          <a:r>
                            <a:rPr lang="ko-KR" altLang="en-US" sz="900" b="1" dirty="0"/>
                            <a:t>공간의 지식을 </a:t>
                          </a:r>
                          <a:r>
                            <a:rPr lang="en-US" sz="900" b="1" dirty="0"/>
                            <a:t>decision space</a:t>
                          </a:r>
                          <a:r>
                            <a:rPr lang="ko-KR" altLang="en-US" sz="900" b="1" dirty="0"/>
                            <a:t>로 전달</a:t>
                          </a:r>
                          <a:endParaRPr lang="en-US" altLang="ko-KR" sz="900" b="1" dirty="0"/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0239" marR="20239" marT="10119" marB="10119" anchor="ctr">
                        <a:blipFill>
                          <a:blip r:embed="rId3"/>
                          <a:stretch>
                            <a:fillRect l="-125652" t="-426016" r="-290" b="-861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36445"/>
                      </a:ext>
                    </a:extLst>
                  </a:tr>
                  <a:tr h="6311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900" b="1" dirty="0"/>
                            <a:t>입력 공간 관계</a:t>
                          </a:r>
                        </a:p>
                      </a:txBody>
                      <a:tcPr marL="20239" marR="20239" marT="10119" marB="10119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0239" marR="20239" marT="10119" marB="10119" anchor="ctr">
                        <a:blipFill>
                          <a:blip r:embed="rId3"/>
                          <a:stretch>
                            <a:fillRect l="-50000" t="-622115" r="-119723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20239" marR="20239" marT="10119" marB="10119" anchor="ctr">
                        <a:blipFill>
                          <a:blip r:embed="rId3"/>
                          <a:stretch>
                            <a:fillRect l="-125652" t="-622115" r="-290" b="-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22819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4110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C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E4BEE-7F79-18BD-5462-3E189712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891AACDF-5BD6-AC8D-F969-D73F0DE9E40C}"/>
              </a:ext>
            </a:extLst>
          </p:cNvPr>
          <p:cNvSpPr/>
          <p:nvPr/>
        </p:nvSpPr>
        <p:spPr>
          <a:xfrm>
            <a:off x="502920" y="50292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EF916A"/>
          </a:solidFill>
          <a:ln w="6350">
            <a:solidFill>
              <a:srgbClr val="EF916A"/>
            </a:solidFill>
            <a:prstDash val="solid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488EF76-37CB-8EDC-8961-393B84D58614}"/>
              </a:ext>
            </a:extLst>
          </p:cNvPr>
          <p:cNvSpPr/>
          <p:nvPr/>
        </p:nvSpPr>
        <p:spPr>
          <a:xfrm>
            <a:off x="548640" y="5303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Appendix | Related work</a:t>
            </a:r>
            <a:endParaRPr lang="en-US" sz="105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5020EA7F-B74D-5396-D6CA-E6B6D475525F}"/>
              </a:ext>
            </a:extLst>
          </p:cNvPr>
          <p:cNvSpPr/>
          <p:nvPr/>
        </p:nvSpPr>
        <p:spPr>
          <a:xfrm>
            <a:off x="502920" y="10789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관련 논문 리뷰</a:t>
            </a:r>
            <a:endParaRPr lang="en-US" sz="29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B99E73A-1666-EA10-0400-C3DE7ECB8E10}"/>
              </a:ext>
            </a:extLst>
          </p:cNvPr>
          <p:cNvSpPr/>
          <p:nvPr/>
        </p:nvSpPr>
        <p:spPr>
          <a:xfrm>
            <a:off x="502920" y="16093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DEBED"/>
                </a:solidFill>
                <a:ea typeface="Noto Sans CJK KR" pitchFamily="34" charset="-122"/>
                <a:cs typeface="Noto Sans CJK KR" pitchFamily="34" charset="-120"/>
              </a:rPr>
              <a:t>Retaining Privileged Information for Multi-Task Learning</a:t>
            </a:r>
            <a:endParaRPr lang="en-US" sz="16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1F341E-269F-D3FC-77FE-B92675FF73B8}"/>
              </a:ext>
            </a:extLst>
          </p:cNvPr>
          <p:cNvSpPr/>
          <p:nvPr/>
        </p:nvSpPr>
        <p:spPr>
          <a:xfrm>
            <a:off x="502920" y="19659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BD6D9"/>
                </a:solidFill>
                <a:ea typeface="Noto Sans CJK KR" pitchFamily="34" charset="-122"/>
                <a:cs typeface="Noto Sans CJK KR" pitchFamily="34" charset="-120"/>
              </a:rPr>
              <a:t>Tang et al. · KDD 2019 · DOI 10.1145/3292500.3330907</a:t>
            </a:r>
            <a:endParaRPr lang="en-US" sz="105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F682B7F4-065F-A9C0-271A-B0F59BF8D8CE}"/>
              </a:ext>
            </a:extLst>
          </p:cNvPr>
          <p:cNvSpPr/>
          <p:nvPr/>
        </p:nvSpPr>
        <p:spPr>
          <a:xfrm>
            <a:off x="502920" y="4590288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76F78"/>
          </a:solidFill>
          <a:ln w="6350">
            <a:solidFill>
              <a:srgbClr val="176F78"/>
            </a:solidFill>
            <a:prstDash val="solid"/>
          </a:ln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21922AB-0768-01F5-00B7-37612E0041E5}"/>
              </a:ext>
            </a:extLst>
          </p:cNvPr>
          <p:cNvSpPr/>
          <p:nvPr/>
        </p:nvSpPr>
        <p:spPr>
          <a:xfrm>
            <a:off x="548640" y="46177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Train-time PI</a:t>
            </a:r>
            <a:endParaRPr lang="en-US" sz="105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0452511-5367-2E19-2BD3-7EF990545C03}"/>
              </a:ext>
            </a:extLst>
          </p:cNvPr>
          <p:cNvSpPr/>
          <p:nvPr/>
        </p:nvSpPr>
        <p:spPr>
          <a:xfrm>
            <a:off x="2176272" y="4590288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DAB253"/>
          </a:solidFill>
          <a:ln w="6350">
            <a:solidFill>
              <a:srgbClr val="DAB253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F4D2DC9-5369-4130-052D-506D8ED6CC21}"/>
              </a:ext>
            </a:extLst>
          </p:cNvPr>
          <p:cNvSpPr/>
          <p:nvPr/>
        </p:nvSpPr>
        <p:spPr>
          <a:xfrm>
            <a:off x="2221992" y="461772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Joint latent space</a:t>
            </a:r>
            <a:endParaRPr lang="en-US" sz="105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C6476673-2A72-3EF1-40B7-42F91B2372C0}"/>
              </a:ext>
            </a:extLst>
          </p:cNvPr>
          <p:cNvSpPr/>
          <p:nvPr/>
        </p:nvSpPr>
        <p:spPr>
          <a:xfrm>
            <a:off x="4133088" y="459028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DDE7E8"/>
          </a:solidFill>
          <a:ln w="6350">
            <a:solidFill>
              <a:srgbClr val="DDE7E8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C946EAE-8D3D-6F3B-73C5-F9711BD132D5}"/>
              </a:ext>
            </a:extLst>
          </p:cNvPr>
          <p:cNvSpPr/>
          <p:nvPr/>
        </p:nvSpPr>
        <p:spPr>
          <a:xfrm>
            <a:off x="4178808" y="46177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Sample efficiency</a:t>
            </a:r>
            <a:endParaRPr lang="en-US" sz="105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8D14990B-1609-41D5-7C58-89EB47100FB4}"/>
              </a:ext>
            </a:extLst>
          </p:cNvPr>
          <p:cNvSpPr/>
          <p:nvPr/>
        </p:nvSpPr>
        <p:spPr>
          <a:xfrm>
            <a:off x="502920" y="5102352"/>
            <a:ext cx="8183880" cy="786384"/>
          </a:xfrm>
          <a:prstGeom prst="roundRect">
            <a:avLst>
              <a:gd name="adj" fmla="val 9302"/>
            </a:avLst>
          </a:prstGeom>
          <a:solidFill>
            <a:srgbClr val="135C65"/>
          </a:solidFill>
          <a:ln w="15240">
            <a:solidFill>
              <a:srgbClr val="2C7A84"/>
            </a:solidFill>
            <a:prstDash val="solid"/>
          </a:ln>
        </p:spPr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36085030-29BA-BF9D-7B55-52DE2531FA25}"/>
              </a:ext>
            </a:extLst>
          </p:cNvPr>
          <p:cNvSpPr/>
          <p:nvPr/>
        </p:nvSpPr>
        <p:spPr>
          <a:xfrm>
            <a:off x="658368" y="52303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BFE3E6"/>
                </a:solidFill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18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D09210B-941F-0F9D-CE6D-E2B43F642D1F}"/>
              </a:ext>
            </a:extLst>
          </p:cNvPr>
          <p:cNvSpPr/>
          <p:nvPr/>
        </p:nvSpPr>
        <p:spPr>
          <a:xfrm>
            <a:off x="658368" y="544982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테스트 입력은 그대로 유지하고,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train-time privileged information은 representation alignment 신호로 남긴다</a:t>
            </a:r>
            <a:endParaRPr lang="en-US" sz="1550" dirty="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2530FFE9-9E5E-13D4-2D58-751A6BD89501}"/>
              </a:ext>
            </a:extLst>
          </p:cNvPr>
          <p:cNvSpPr/>
          <p:nvPr/>
        </p:nvSpPr>
        <p:spPr>
          <a:xfrm>
            <a:off x="7173408" y="2225436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35C65"/>
          </a:solidFill>
          <a:ln w="10160">
            <a:solidFill>
              <a:srgbClr val="2C7A84"/>
            </a:solidFill>
            <a:prstDash val="solid"/>
          </a:ln>
        </p:spPr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05267559-F132-B576-2EF3-E0B15EF18174}"/>
              </a:ext>
            </a:extLst>
          </p:cNvPr>
          <p:cNvSpPr/>
          <p:nvPr/>
        </p:nvSpPr>
        <p:spPr>
          <a:xfrm>
            <a:off x="7173408" y="3459876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35C65"/>
          </a:solidFill>
          <a:ln w="10160">
            <a:solidFill>
              <a:srgbClr val="2C7A84"/>
            </a:solidFill>
            <a:prstDash val="solid"/>
          </a:ln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62913DEC-3617-BFBA-D892-0F5BB687D420}"/>
              </a:ext>
            </a:extLst>
          </p:cNvPr>
          <p:cNvSpPr/>
          <p:nvPr/>
        </p:nvSpPr>
        <p:spPr>
          <a:xfrm>
            <a:off x="8453568" y="2728356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EEE0B8"/>
          </a:solidFill>
          <a:ln w="10160">
            <a:solidFill>
              <a:srgbClr val="EEE0B8"/>
            </a:solidFill>
            <a:prstDash val="solid"/>
          </a:ln>
        </p:spPr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955D1817-F0CB-5CC6-3ECA-25FE6333D5FD}"/>
              </a:ext>
            </a:extLst>
          </p:cNvPr>
          <p:cNvSpPr/>
          <p:nvPr/>
        </p:nvSpPr>
        <p:spPr>
          <a:xfrm>
            <a:off x="9825168" y="2847228"/>
            <a:ext cx="658368" cy="621792"/>
          </a:xfrm>
          <a:prstGeom prst="roundRect">
            <a:avLst>
              <a:gd name="adj" fmla="val 11765"/>
            </a:avLst>
          </a:prstGeom>
          <a:solidFill>
            <a:srgbClr val="0E5960"/>
          </a:solidFill>
          <a:ln w="10160">
            <a:solidFill>
              <a:srgbClr val="0E5960"/>
            </a:solidFill>
            <a:prstDash val="solid"/>
          </a:ln>
        </p:spPr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4EB9F60C-295B-A7D4-D355-068234E2C266}"/>
              </a:ext>
            </a:extLst>
          </p:cNvPr>
          <p:cNvSpPr/>
          <p:nvPr/>
        </p:nvSpPr>
        <p:spPr>
          <a:xfrm>
            <a:off x="8087808" y="2472324"/>
            <a:ext cx="320040" cy="411480"/>
          </a:xfrm>
          <a:prstGeom prst="line">
            <a:avLst/>
          </a:prstGeom>
          <a:noFill/>
          <a:ln w="27940">
            <a:solidFill>
              <a:srgbClr val="EF916A"/>
            </a:solidFill>
            <a:prstDash val="solid"/>
            <a:headEnd type="none"/>
            <a:tailEnd type="triangle"/>
          </a:ln>
        </p:spPr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A07F4F98-56AF-8366-F80B-2D86C6BAFC23}"/>
              </a:ext>
            </a:extLst>
          </p:cNvPr>
          <p:cNvSpPr/>
          <p:nvPr/>
        </p:nvSpPr>
        <p:spPr>
          <a:xfrm>
            <a:off x="8087808" y="3688476"/>
            <a:ext cx="320040" cy="0"/>
          </a:xfrm>
          <a:prstGeom prst="line">
            <a:avLst/>
          </a:prstGeom>
          <a:noFill/>
          <a:ln w="27940">
            <a:solidFill>
              <a:srgbClr val="EF916A"/>
            </a:solidFill>
            <a:prstDash val="solid"/>
            <a:headEnd type="none"/>
            <a:tailEnd type="triangle"/>
          </a:ln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FFE78DC2-D214-38A9-C7E1-770A7606EF6A}"/>
              </a:ext>
            </a:extLst>
          </p:cNvPr>
          <p:cNvSpPr/>
          <p:nvPr/>
        </p:nvSpPr>
        <p:spPr>
          <a:xfrm>
            <a:off x="9596568" y="3148980"/>
            <a:ext cx="164592" cy="0"/>
          </a:xfrm>
          <a:prstGeom prst="line">
            <a:avLst/>
          </a:prstGeom>
          <a:noFill/>
          <a:ln w="27940">
            <a:solidFill>
              <a:srgbClr val="EF916A"/>
            </a:solidFill>
            <a:prstDash val="solid"/>
            <a:headEnd type="none"/>
            <a:tailEnd type="triangle"/>
          </a:ln>
        </p:spPr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8DEE35CC-82AD-4C52-1E6E-178BC69BC61A}"/>
              </a:ext>
            </a:extLst>
          </p:cNvPr>
          <p:cNvSpPr/>
          <p:nvPr/>
        </p:nvSpPr>
        <p:spPr>
          <a:xfrm>
            <a:off x="7502592" y="23900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18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E40FEA73-770F-2288-8656-EA48D8D1BC7F}"/>
              </a:ext>
            </a:extLst>
          </p:cNvPr>
          <p:cNvSpPr/>
          <p:nvPr/>
        </p:nvSpPr>
        <p:spPr>
          <a:xfrm>
            <a:off x="7466016" y="362446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X*</a:t>
            </a:r>
            <a:endParaRPr lang="en-US" sz="1800" dirty="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03995491-4136-372C-D9BB-16A14400C7F7}"/>
              </a:ext>
            </a:extLst>
          </p:cNvPr>
          <p:cNvSpPr/>
          <p:nvPr/>
        </p:nvSpPr>
        <p:spPr>
          <a:xfrm>
            <a:off x="8910768" y="30209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Φ</a:t>
            </a:r>
            <a:endParaRPr lang="en-US" sz="220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10677C86-DAB2-6A12-CEB4-93EF7361CC9D}"/>
              </a:ext>
            </a:extLst>
          </p:cNvPr>
          <p:cNvSpPr/>
          <p:nvPr/>
        </p:nvSpPr>
        <p:spPr>
          <a:xfrm>
            <a:off x="10035480" y="30575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Y</a:t>
            </a:r>
            <a:endParaRPr lang="en-US" sz="180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796A7A98-AB8C-3F9A-0C76-CF7FF145BBF7}"/>
              </a:ext>
            </a:extLst>
          </p:cNvPr>
          <p:cNvSpPr/>
          <p:nvPr/>
        </p:nvSpPr>
        <p:spPr>
          <a:xfrm>
            <a:off x="8727888" y="32495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Joint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space</a:t>
            </a:r>
            <a:endParaRPr lang="en-US" sz="92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95C39CE9-34D6-A603-C610-4B519CB62AB8}"/>
              </a:ext>
            </a:extLst>
          </p:cNvPr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7FAEB5"/>
            </a:solidFill>
            <a:prstDash val="solid"/>
          </a:ln>
        </p:spPr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3DA38605-158D-9A79-10A9-4FB36EC21DF3}"/>
              </a:ext>
            </a:extLst>
          </p:cNvPr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D7E7E9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96204FA-3209-8C16-566B-CDED102806E9}"/>
              </a:ext>
            </a:extLst>
          </p:cNvPr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7E7E9"/>
                </a:solidFill>
                <a:ea typeface="Noto Sans CJK KR" pitchFamily="34" charset="-122"/>
                <a:cs typeface="Noto Sans CJK KR" pitchFamily="34" charset="-120"/>
              </a:rPr>
              <a:t>20/25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214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관련 논문 배경 · 문제 설정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train / inference 에서 사용 가능한 정보 집합이 다른 비대칭 임상 데이터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0E5960"/>
          </a:solidFill>
          <a:ln w="6350">
            <a:solidFill>
              <a:srgbClr val="0E59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R1 개요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27486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86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R2 한계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994453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4453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R3 방법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240219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0219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R4 결과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94859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59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R5 의의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9555480" y="192024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EEF2F3"/>
          </a:solidFill>
          <a:ln w="6350">
            <a:solidFill>
              <a:srgbClr val="EEF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21945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Tang et al. | KDD 2019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1481328"/>
            <a:ext cx="2560320" cy="1938528"/>
          </a:xfrm>
          <a:prstGeom prst="roundRect">
            <a:avLst>
              <a:gd name="adj" fmla="val 3774"/>
            </a:avLst>
          </a:prstGeom>
          <a:solidFill>
            <a:srgbClr val="D8EEF2"/>
          </a:solidFill>
          <a:ln w="10160">
            <a:solidFill>
              <a:srgbClr val="D8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7007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Train-time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2416" y="204825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EHR 시계열 feature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multi-task ICD-9 label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discharge notes / UMLS (PI)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학습 시점에는 진단 이후 텍스트와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병리 의미가 함께 존재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822192" y="173736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4D7CD"/>
          </a:solidFill>
          <a:ln w="10160">
            <a:solidFill>
              <a:srgbClr val="F4D7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938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Asymmetric clinical data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206240" y="22677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훈련 때만 존재하는 PI를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어떻게 학생 모델에 남길 것인가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315200" y="1481328"/>
            <a:ext cx="2697480" cy="1938528"/>
          </a:xfrm>
          <a:prstGeom prst="roundRect">
            <a:avLst>
              <a:gd name="adj" fmla="val 3774"/>
            </a:avLst>
          </a:prstGeom>
          <a:solidFill>
            <a:srgbClr val="EEE0B8"/>
          </a:solidFill>
          <a:ln w="10160">
            <a:solidFill>
              <a:srgbClr val="EEE0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17007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Inference-time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71232" y="20482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EHR 시계열 feature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multi-task 예측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NO discharge notes (PI)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34656" y="28346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실제 배치 시점에는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strict한 정보만 사용 가능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02920" y="4133088"/>
            <a:ext cx="1115568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3970">
            <a:solidFill>
              <a:srgbClr val="D9E2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F916A"/>
                </a:solidFill>
                <a:ea typeface="Noto Sans CJK KR" pitchFamily="34" charset="-122"/>
                <a:cs typeface="Noto Sans CJK KR" pitchFamily="34" charset="-120"/>
              </a:rPr>
              <a:t>핵심 질문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459028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기존 LUPI는 학습이 끝나면 PI의 유용한 구조가 휘발되기 쉽다.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다중 작업 학습에서 이 지식을 어떻게 retain 하고 다른 task에까지 전이시킬 것인가?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C8D8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21/25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기존 접근의 한계점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저자가 비교한 세 가지 대표 PI 활용 방식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R1 개요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27486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0E5960"/>
          </a:solidFill>
          <a:ln w="6350">
            <a:solidFill>
              <a:srgbClr val="0E59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86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R2 한계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994453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4453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R3 방법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240219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0219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R4 결과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94859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59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R5 의의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960120" y="1417320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D8EEF2"/>
          </a:solidFill>
          <a:ln w="10160">
            <a:solidFill>
              <a:srgbClr val="D8E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472184"/>
            <a:ext cx="347472" cy="384048"/>
          </a:xfrm>
          <a:prstGeom prst="roundRect">
            <a:avLst>
              <a:gd name="adj" fmla="val 13158"/>
            </a:avLst>
          </a:prstGeom>
          <a:solidFill>
            <a:srgbClr val="0E5960"/>
          </a:solidFill>
          <a:ln w="10160">
            <a:solidFill>
              <a:srgbClr val="0E59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54533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154533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Auxiliary targets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1170432" y="1728216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PI를 추가 예측 과제로 두면 관련성이 약한 task가 함께 학습되면서 negative transfer가 발생할 수 있다.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또한 샘플 간 similarity 구조를 직접 보존하지 못한다.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738360" y="1673352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17007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Negative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" y="2487168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EEE0B8"/>
          </a:solidFill>
          <a:ln w="10160">
            <a:solidFill>
              <a:srgbClr val="EEE0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542032"/>
            <a:ext cx="347472" cy="384048"/>
          </a:xfrm>
          <a:prstGeom prst="roundRect">
            <a:avLst>
              <a:gd name="adj" fmla="val 13158"/>
            </a:avLst>
          </a:prstGeom>
          <a:solidFill>
            <a:srgbClr val="0E5960"/>
          </a:solidFill>
          <a:ln w="10160">
            <a:solidFill>
              <a:srgbClr val="0E59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1518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26151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Prior constraints(</a:t>
            </a:r>
            <a:r>
              <a:rPr lang="ko-KR" altLang="en-US" sz="136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사전 제약</a:t>
            </a:r>
            <a:r>
              <a:rPr lang="en-US" altLang="ko-KR" sz="136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1170432" y="2798064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지식 그래프·관계형 제약은 구축 비용이 크고 특정 도메인에 의존적이다.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정확도나 수렴 속도에는 도움을 줄 수 있지만 sample efficiency 보장은 제한적이다.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9738360" y="2743200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27706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High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cost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3557016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F4D7CD"/>
          </a:solidFill>
          <a:ln w="10160">
            <a:solidFill>
              <a:srgbClr val="F4D7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611880"/>
            <a:ext cx="347472" cy="384048"/>
          </a:xfrm>
          <a:prstGeom prst="roundRect">
            <a:avLst>
              <a:gd name="adj" fmla="val 13158"/>
            </a:avLst>
          </a:prstGeom>
          <a:solidFill>
            <a:srgbClr val="0E5960"/>
          </a:solidFill>
          <a:ln w="10160">
            <a:solidFill>
              <a:srgbClr val="0E59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850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70432" y="368503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Data fusion</a:t>
            </a:r>
            <a:endParaRPr lang="en-US" sz="1360" dirty="0"/>
          </a:p>
        </p:txBody>
      </p:sp>
      <p:sp>
        <p:nvSpPr>
          <p:cNvPr id="32" name="Text 30"/>
          <p:cNvSpPr/>
          <p:nvPr/>
        </p:nvSpPr>
        <p:spPr>
          <a:xfrm>
            <a:off x="1170432" y="3867912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원본 feature X 와 privileged space X* 를 직접 결합하면 학습 시 PI 의존성이 커진다.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테스트에서 PI를 mask 하면 train/test mismatch 로 일반화가 흔들릴 수 있다.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738360" y="3813048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3840480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Mismatch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864608"/>
            <a:ext cx="11155680" cy="969264"/>
          </a:xfrm>
          <a:prstGeom prst="roundRect">
            <a:avLst>
              <a:gd name="adj" fmla="val 7547"/>
            </a:avLst>
          </a:prstGeom>
          <a:solidFill>
            <a:srgbClr val="E2EEE3"/>
          </a:solidFill>
          <a:ln w="10160">
            <a:solidFill>
              <a:srgbClr val="E2E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0840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핵심 함의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600200" y="50657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PI를 단순 입력이나 보조 과제로 소비하지 말고, joint latent space에서 샘플 간 관계를 정렬하는 신호로 사용해야 한다.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713232" y="5376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즉, “보이는 정보”와 “학습에만 쓰는 정보”를 분리하면서도, 후자의 의미를 representation 안에 남겨야 한다.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C8D8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22/25</a:t>
            </a:r>
            <a:endParaRPr lang="en-US" sz="85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A51E6D63-FEA0-3426-5411-E8CFB2670C91}"/>
              </a:ext>
            </a:extLst>
          </p:cNvPr>
          <p:cNvSpPr/>
          <p:nvPr/>
        </p:nvSpPr>
        <p:spPr>
          <a:xfrm>
            <a:off x="1170432" y="2093796"/>
            <a:ext cx="1006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ko-KR" sz="900" dirty="0">
                <a:solidFill>
                  <a:srgbClr val="6D7C80"/>
                </a:solidFill>
              </a:rPr>
              <a:t>Negative transfer: </a:t>
            </a:r>
            <a:r>
              <a:rPr lang="ko-KR" altLang="en-US" sz="900" dirty="0">
                <a:solidFill>
                  <a:srgbClr val="6D7C80"/>
                </a:solidFill>
              </a:rPr>
              <a:t>소스 도메인</a:t>
            </a:r>
            <a:r>
              <a:rPr lang="en-US" altLang="ko-KR" sz="900" dirty="0">
                <a:solidFill>
                  <a:srgbClr val="6D7C80"/>
                </a:solidFill>
                <a:ea typeface="Noto Sans CJK KR" pitchFamily="34" charset="-122"/>
              </a:rPr>
              <a:t>(</a:t>
            </a:r>
            <a:r>
              <a:rPr lang="ko-KR" altLang="en-US" sz="900" dirty="0">
                <a:solidFill>
                  <a:srgbClr val="6D7C80"/>
                </a:solidFill>
              </a:rPr>
              <a:t>이미 학습된 원래의 작업 영역</a:t>
            </a:r>
            <a:r>
              <a:rPr lang="en-US" altLang="ko-KR" sz="900" dirty="0">
                <a:solidFill>
                  <a:srgbClr val="6D7C80"/>
                </a:solidFill>
                <a:ea typeface="Noto Sans CJK KR" pitchFamily="34" charset="-122"/>
              </a:rPr>
              <a:t>)</a:t>
            </a:r>
            <a:r>
              <a:rPr lang="ko-KR" altLang="en-US" sz="900" dirty="0">
                <a:solidFill>
                  <a:srgbClr val="6D7C80"/>
                </a:solidFill>
              </a:rPr>
              <a:t>의 지식이 타깃 도메인</a:t>
            </a:r>
            <a:r>
              <a:rPr lang="en-US" altLang="ko-KR" sz="900" dirty="0">
                <a:solidFill>
                  <a:srgbClr val="6D7C80"/>
                </a:solidFill>
                <a:ea typeface="Noto Sans CJK KR" pitchFamily="34" charset="-122"/>
              </a:rPr>
              <a:t>(</a:t>
            </a:r>
            <a:r>
              <a:rPr lang="ko-KR" altLang="en-US" sz="900" dirty="0">
                <a:solidFill>
                  <a:srgbClr val="6D7C80"/>
                </a:solidFill>
              </a:rPr>
              <a:t>새롭게 학습하려는 작업 영역</a:t>
            </a:r>
            <a:r>
              <a:rPr lang="en-US" altLang="ko-KR" sz="900" dirty="0">
                <a:solidFill>
                  <a:srgbClr val="6D7C80"/>
                </a:solidFill>
                <a:ea typeface="Noto Sans CJK KR" pitchFamily="34" charset="-122"/>
              </a:rPr>
              <a:t>)</a:t>
            </a:r>
            <a:r>
              <a:rPr lang="ko-KR" altLang="en-US" sz="900" dirty="0">
                <a:solidFill>
                  <a:srgbClr val="6D7C80"/>
                </a:solidFill>
              </a:rPr>
              <a:t>에 부적절하게 적용되어 오히려 성능을 저하시키는 현상</a:t>
            </a:r>
            <a:endParaRPr lang="en-US" altLang="ko-KR" sz="900" dirty="0">
              <a:solidFill>
                <a:srgbClr val="6D7C80"/>
              </a:solidFill>
              <a:ea typeface="Noto Sans CJK KR" pitchFamily="34" charset="-122"/>
            </a:endParaRPr>
          </a:p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03E11A9B-3B0F-FCEB-5BEF-BEF63AEA641F}"/>
              </a:ext>
            </a:extLst>
          </p:cNvPr>
          <p:cNvSpPr/>
          <p:nvPr/>
        </p:nvSpPr>
        <p:spPr>
          <a:xfrm>
            <a:off x="1178720" y="3163824"/>
            <a:ext cx="1006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ko-KR" sz="900" dirty="0">
                <a:solidFill>
                  <a:srgbClr val="6D7C80"/>
                </a:solidFill>
              </a:rPr>
              <a:t>Sample efficiency(</a:t>
            </a:r>
            <a:r>
              <a:rPr lang="ko-KR" altLang="en-US" sz="900" dirty="0">
                <a:solidFill>
                  <a:srgbClr val="6D7C80"/>
                </a:solidFill>
              </a:rPr>
              <a:t>샘플 효율성</a:t>
            </a:r>
            <a:r>
              <a:rPr lang="en-US" altLang="ko-KR" sz="900" dirty="0">
                <a:solidFill>
                  <a:srgbClr val="6D7C80"/>
                </a:solidFill>
              </a:rPr>
              <a:t>): AI </a:t>
            </a:r>
            <a:r>
              <a:rPr lang="ko-KR" altLang="en-US" sz="900" dirty="0">
                <a:solidFill>
                  <a:srgbClr val="6D7C80"/>
                </a:solidFill>
              </a:rPr>
              <a:t>모델이 특정 성능 수준에 도달하기 위해 필요한 학습 데이터</a:t>
            </a:r>
            <a:r>
              <a:rPr lang="en-US" altLang="ko-KR" sz="900" dirty="0">
                <a:solidFill>
                  <a:srgbClr val="6D7C80"/>
                </a:solidFill>
              </a:rPr>
              <a:t>(</a:t>
            </a:r>
            <a:r>
              <a:rPr lang="ko-KR" altLang="en-US" sz="900" dirty="0">
                <a:solidFill>
                  <a:srgbClr val="6D7C80"/>
                </a:solidFill>
              </a:rPr>
              <a:t>샘플</a:t>
            </a:r>
            <a:r>
              <a:rPr lang="en-US" altLang="ko-KR" sz="900" dirty="0">
                <a:solidFill>
                  <a:srgbClr val="6D7C80"/>
                </a:solidFill>
              </a:rPr>
              <a:t>)</a:t>
            </a:r>
            <a:r>
              <a:rPr lang="ko-KR" altLang="en-US" sz="900" dirty="0">
                <a:solidFill>
                  <a:srgbClr val="6D7C80"/>
                </a:solidFill>
              </a:rPr>
              <a:t>의 양이 얼마나 적은지를 나타내는 지표</a:t>
            </a:r>
            <a:endParaRPr lang="en-US" sz="900" dirty="0">
              <a:solidFill>
                <a:srgbClr val="6D7C8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제안 방법 | 공동 잠재 공간과 feature matching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PI를 직접 입력으로 쓰지 않고, joint latent space에서만 retain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R1 개요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27486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86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R2 한계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994453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0E5960"/>
          </a:solidFill>
          <a:ln w="6350">
            <a:solidFill>
              <a:srgbClr val="0E59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4453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R3 방법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240219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0219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R4 결과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94859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59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R5 의의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9418320" y="18288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EEF2F3"/>
          </a:solidFill>
          <a:ln w="6350">
            <a:solidFill>
              <a:srgbClr val="EEF2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103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3-step decomposition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1920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6D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157984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Original features 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24688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EHR / example feature space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68680" y="345643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EF916A"/>
          </a:solidFill>
          <a:ln w="6350">
            <a:solidFill>
              <a:srgbClr val="EF91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838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PI vocabulary embedding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37490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8EEF2"/>
          </a:solidFill>
          <a:ln w="10160">
            <a:solidFill>
              <a:srgbClr val="D8EE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86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Privileged space X*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4297680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discharge notes / UMLS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767328" y="2029968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EE0B8"/>
          </a:solidFill>
          <a:ln w="10160">
            <a:solidFill>
              <a:srgbClr val="EEE0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51376" y="23957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Joint latent space Φ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4151376" y="285292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co-occurrence 기반 정렬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sample similarity 보존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task 간 transferable semantics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3986784" y="373075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X 와 X* 를 하나의 </a:t>
            </a:r>
            <a:r>
              <a:rPr lang="en-US" sz="1020" b="1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“공통 좌표계”</a:t>
            </a: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에 투영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458200" y="2341223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0E5960"/>
          </a:solidFill>
          <a:ln w="10160">
            <a:solidFill>
              <a:srgbClr val="0E59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1392" y="2597255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Shared decision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function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887968" y="3173327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DCEBED"/>
                </a:solidFill>
                <a:ea typeface="Noto Sans CJK KR" pitchFamily="34" charset="-122"/>
                <a:cs typeface="Noto Sans CJK KR" pitchFamily="34" charset="-120"/>
              </a:rPr>
              <a:t>multi-task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DCEBED"/>
                </a:solidFill>
                <a:ea typeface="Noto Sans CJK KR" pitchFamily="34" charset="-122"/>
                <a:cs typeface="Noto Sans CJK KR" pitchFamily="34" charset="-120"/>
              </a:rPr>
              <a:t>prediction Y₁ … Yc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2724912" y="2359152"/>
            <a:ext cx="822960" cy="475488"/>
          </a:xfrm>
          <a:prstGeom prst="line">
            <a:avLst/>
          </a:prstGeom>
          <a:noFill/>
          <a:ln w="27940">
            <a:solidFill>
              <a:srgbClr val="EF916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2724912" y="3502152"/>
            <a:ext cx="822960" cy="685800"/>
          </a:xfrm>
          <a:prstGeom prst="line">
            <a:avLst/>
          </a:prstGeom>
          <a:noFill/>
          <a:ln w="27940">
            <a:solidFill>
              <a:srgbClr val="EF916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73952" y="3145536"/>
            <a:ext cx="1755648" cy="0"/>
          </a:xfrm>
          <a:prstGeom prst="line">
            <a:avLst/>
          </a:prstGeom>
          <a:noFill/>
          <a:ln w="27940">
            <a:solidFill>
              <a:srgbClr val="EF916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651760" y="181051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F916A"/>
                </a:solidFill>
                <a:ea typeface="Noto Sans CJK KR" pitchFamily="34" charset="-122"/>
                <a:cs typeface="Noto Sans CJK KR" pitchFamily="34" charset="-120"/>
              </a:rPr>
              <a:t>Feature matching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13232" y="513892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D8EEF2"/>
          </a:solidFill>
          <a:ln w="10160">
            <a:solidFill>
              <a:srgbClr val="D8EE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537667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Contrastive loss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2212848" y="534009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같은 label 의 샘플은 가깝게, 다른 label 의 샘플은 멀게 배치해 multi-task decision boundary 를 학습한다.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C8D8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23/25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EHR 적용과 실험 결과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희귀 질환처럼 샘플이 적은 multi-task setting에서 특히 강점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R1 개요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27486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86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R2 한계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994453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4453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R3 방법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240219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0E5960"/>
          </a:solidFill>
          <a:ln w="6350">
            <a:solidFill>
              <a:srgbClr val="0E59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0219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R4 결과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94859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59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R5 의의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85800" y="1298448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D8EEF2"/>
          </a:solidFill>
          <a:ln w="10160">
            <a:solidFill>
              <a:srgbClr val="D8EE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1408176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22,043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8096" y="170078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patients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856232" y="1298448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EEE0B8"/>
          </a:solidFill>
          <a:ln w="10160">
            <a:solidFill>
              <a:srgbClr val="EEE0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1408176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928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38528" y="170078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UMLS terms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026664" y="1298448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F4D7CD"/>
          </a:solidFill>
          <a:ln w="10160">
            <a:solidFill>
              <a:srgbClr val="F4D7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408176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148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08960" y="170078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ICD-9 tasks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197096" y="1298448"/>
            <a:ext cx="1051560" cy="749808"/>
          </a:xfrm>
          <a:prstGeom prst="roundRect">
            <a:avLst>
              <a:gd name="adj" fmla="val 9756"/>
            </a:avLst>
          </a:prstGeom>
          <a:solidFill>
            <a:srgbClr val="E2EEE3"/>
          </a:solidFill>
          <a:ln w="10160">
            <a:solidFill>
              <a:srgbClr val="E2E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1408176"/>
            <a:ext cx="886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79392" y="170078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temporal features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85800" y="2240280"/>
            <a:ext cx="4709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3970">
            <a:solidFill>
              <a:srgbClr val="D9E2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24414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실험 설정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896112" y="276148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데이터: MIMIC-III 전자의무기록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PI 출처: 입원 종료 후 작성되는 discharge notes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PI 표현: note 안의 UMLS 코드 vocabulary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과제: 다중 ICD-9 진단 예측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별도 평가: 100개 미만 샘플을 가진 rare-disease subset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96112" y="4242816"/>
            <a:ext cx="4133088" cy="402336"/>
          </a:xfrm>
          <a:prstGeom prst="roundRect">
            <a:avLst>
              <a:gd name="adj" fmla="val 18182"/>
            </a:avLst>
          </a:prstGeom>
          <a:solidFill>
            <a:srgbClr val="EEF2F3"/>
          </a:solidFill>
          <a:ln w="10160">
            <a:solidFill>
              <a:srgbClr val="EEF2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379976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핵심 포인트 | PI는 inference 시점에는 없지만, training 시점에 희귀 질환 의미를 보강한다.</a:t>
            </a:r>
            <a:endParaRPr lang="en-US" sz="990" dirty="0"/>
          </a:p>
        </p:txBody>
      </p:sp>
      <p:sp>
        <p:nvSpPr>
          <p:cNvPr id="31" name="Shape 29"/>
          <p:cNvSpPr/>
          <p:nvPr/>
        </p:nvSpPr>
        <p:spPr>
          <a:xfrm>
            <a:off x="5596128" y="1298448"/>
            <a:ext cx="5925312" cy="3593592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3970">
            <a:solidFill>
              <a:srgbClr val="D9E2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46304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Rare-disease subset (&lt;100 samples / task)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10561320" y="1444752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E5960"/>
          </a:solidFill>
          <a:ln w="6350">
            <a:solidFill>
              <a:srgbClr val="0E59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0" y="147218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AUPRC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60720" y="208483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Multi-Task Learning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922008" y="2121408"/>
            <a:ext cx="3822192" cy="137160"/>
          </a:xfrm>
          <a:prstGeom prst="rect">
            <a:avLst/>
          </a:prstGeom>
          <a:solidFill>
            <a:srgbClr val="EAEFF0"/>
          </a:solidFill>
          <a:ln w="2540">
            <a:solidFill>
              <a:srgbClr val="EAEF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22008" y="2121408"/>
            <a:ext cx="1332307" cy="137160"/>
          </a:xfrm>
          <a:prstGeom prst="rect">
            <a:avLst/>
          </a:prstGeom>
          <a:solidFill>
            <a:srgbClr val="B9D9DF"/>
          </a:solidFill>
          <a:ln w="2540">
            <a:solidFill>
              <a:srgbClr val="B9D9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35640" y="2066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0.122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760720" y="256032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Distillation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922008" y="2596896"/>
            <a:ext cx="3822192" cy="137160"/>
          </a:xfrm>
          <a:prstGeom prst="rect">
            <a:avLst/>
          </a:prstGeom>
          <a:solidFill>
            <a:srgbClr val="EAEFF0"/>
          </a:solidFill>
          <a:ln w="2540">
            <a:solidFill>
              <a:srgbClr val="EAEF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22008" y="2596896"/>
            <a:ext cx="1627162" cy="137160"/>
          </a:xfrm>
          <a:prstGeom prst="rect">
            <a:avLst/>
          </a:prstGeom>
          <a:solidFill>
            <a:srgbClr val="D8D7E6"/>
          </a:solidFill>
          <a:ln w="2540">
            <a:solidFill>
              <a:srgbClr val="D8D7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35640" y="2542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0.149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760720" y="303580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Data Fusion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922008" y="3072384"/>
            <a:ext cx="3822192" cy="137160"/>
          </a:xfrm>
          <a:prstGeom prst="rect">
            <a:avLst/>
          </a:prstGeom>
          <a:solidFill>
            <a:srgbClr val="EAEFF0"/>
          </a:solidFill>
          <a:ln w="2540">
            <a:solidFill>
              <a:srgbClr val="EAEF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22008" y="3072384"/>
            <a:ext cx="2588170" cy="137160"/>
          </a:xfrm>
          <a:prstGeom prst="rect">
            <a:avLst/>
          </a:prstGeom>
          <a:solidFill>
            <a:srgbClr val="E7CF97"/>
          </a:solidFill>
          <a:ln w="2540">
            <a:solidFill>
              <a:srgbClr val="E7CF9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35640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0.237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760720" y="351129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Ours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6922008" y="3547872"/>
            <a:ext cx="3822192" cy="137160"/>
          </a:xfrm>
          <a:prstGeom prst="rect">
            <a:avLst/>
          </a:prstGeom>
          <a:solidFill>
            <a:srgbClr val="EAEFF0"/>
          </a:solidFill>
          <a:ln w="2540">
            <a:solidFill>
              <a:srgbClr val="EAEF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22008" y="3547872"/>
            <a:ext cx="3603781" cy="137160"/>
          </a:xfrm>
          <a:prstGeom prst="rect">
            <a:avLst/>
          </a:prstGeom>
          <a:solidFill>
            <a:srgbClr val="0E5960"/>
          </a:solidFill>
          <a:ln w="2540">
            <a:solidFill>
              <a:srgbClr val="0E59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35640" y="3493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0.330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6922008" y="4233672"/>
            <a:ext cx="0" cy="36576"/>
          </a:xfrm>
          <a:prstGeom prst="line">
            <a:avLst/>
          </a:prstGeom>
          <a:noFill/>
          <a:ln w="12700">
            <a:solidFill>
              <a:srgbClr val="D9E2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93992" y="43068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14063" y="4233672"/>
            <a:ext cx="0" cy="36576"/>
          </a:xfrm>
          <a:prstGeom prst="line">
            <a:avLst/>
          </a:prstGeom>
          <a:noFill/>
          <a:ln w="12700">
            <a:solidFill>
              <a:srgbClr val="D9E2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86047" y="43068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106118" y="4233672"/>
            <a:ext cx="0" cy="36576"/>
          </a:xfrm>
          <a:prstGeom prst="line">
            <a:avLst/>
          </a:prstGeom>
          <a:noFill/>
          <a:ln w="12700">
            <a:solidFill>
              <a:srgbClr val="D9E2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78102" y="43068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0.2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0198173" y="4233672"/>
            <a:ext cx="0" cy="36576"/>
          </a:xfrm>
          <a:prstGeom prst="line">
            <a:avLst/>
          </a:prstGeom>
          <a:noFill/>
          <a:ln w="12700">
            <a:solidFill>
              <a:srgbClr val="D9E2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70157" y="43068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0.3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744200" y="4233672"/>
            <a:ext cx="0" cy="36576"/>
          </a:xfrm>
          <a:prstGeom prst="line">
            <a:avLst/>
          </a:prstGeom>
          <a:noFill/>
          <a:ln w="12700">
            <a:solidFill>
              <a:srgbClr val="D9E2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16184" y="43068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0.35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760720" y="4544568"/>
            <a:ext cx="5596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Ours가 long-tail 진단 과제에서 가장 안정적으로 성능을 유지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85800" y="521208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4D7CD"/>
          </a:solidFill>
          <a:ln w="10160">
            <a:solidFill>
              <a:srgbClr val="F4D7C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6112" y="5422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240" dirty="0"/>
          </a:p>
        </p:txBody>
      </p:sp>
      <p:sp>
        <p:nvSpPr>
          <p:cNvPr id="64" name="Text 62"/>
          <p:cNvSpPr/>
          <p:nvPr/>
        </p:nvSpPr>
        <p:spPr>
          <a:xfrm>
            <a:off x="1508760" y="540410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PI가 잠재 공간에 남아 있기 때문에, long-tail / rare-disease 과제에서도 sample efficiency 와 예측 성능이 함께 개선된다.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C8D8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24/25</a:t>
            </a:r>
            <a:endParaRPr lang="en-US" sz="850" dirty="0"/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81130D6D-D8D9-AEDF-3370-41F6FACFED05}"/>
              </a:ext>
            </a:extLst>
          </p:cNvPr>
          <p:cNvSpPr/>
          <p:nvPr/>
        </p:nvSpPr>
        <p:spPr>
          <a:xfrm>
            <a:off x="1938528" y="2075686"/>
            <a:ext cx="2172614" cy="192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50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UMLS:</a:t>
            </a:r>
            <a:r>
              <a:rPr lang="ko-KR" altLang="en-US" sz="50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 서로 다른 의료 용어 및 분류 체계들을 통합한 지식 기반시스템</a:t>
            </a:r>
            <a:endParaRPr lang="en-US" sz="500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5F109F04-D31A-97B3-31BB-C8049DFC9204}"/>
              </a:ext>
            </a:extLst>
          </p:cNvPr>
          <p:cNvSpPr/>
          <p:nvPr/>
        </p:nvSpPr>
        <p:spPr>
          <a:xfrm>
            <a:off x="3108960" y="1867853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ICD: </a:t>
            </a:r>
            <a:r>
              <a:rPr lang="ko-KR" altLang="en-US" sz="92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건강문제 분류 체계</a:t>
            </a:r>
            <a:endParaRPr lang="en-US" sz="9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정리 · 시사점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train-time privileged information을 어떻게 다룰 것인가에 대한 핵심 메시지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R1 개요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27486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86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R2 한계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994453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4453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R3 방법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240219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E8EEF0"/>
          </a:solidFill>
          <a:ln w="6350">
            <a:solidFill>
              <a:srgbClr val="E8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0219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6D7C80"/>
                </a:solidFill>
                <a:ea typeface="Noto Sans CJK KR" pitchFamily="34" charset="-122"/>
                <a:cs typeface="Noto Sans CJK KR" pitchFamily="34" charset="-120"/>
              </a:rPr>
              <a:t>R4 결과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9485986" y="713232"/>
            <a:ext cx="2172614" cy="201168"/>
          </a:xfrm>
          <a:prstGeom prst="roundRect">
            <a:avLst>
              <a:gd name="adj" fmla="val 18182"/>
            </a:avLst>
          </a:prstGeom>
          <a:solidFill>
            <a:srgbClr val="0E5960"/>
          </a:solidFill>
          <a:ln w="6350">
            <a:solidFill>
              <a:srgbClr val="0E59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5986" y="731520"/>
            <a:ext cx="217261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R5 의의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94360" y="1225296"/>
            <a:ext cx="10991088" cy="530352"/>
          </a:xfrm>
          <a:prstGeom prst="roundRect">
            <a:avLst>
              <a:gd name="adj" fmla="val 13793"/>
            </a:avLst>
          </a:prstGeom>
          <a:solidFill>
            <a:srgbClr val="0E5960"/>
          </a:solidFill>
          <a:ln w="10160">
            <a:solidFill>
              <a:srgbClr val="0E59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399032"/>
            <a:ext cx="10378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ea typeface="Noto Sans CJK KR" pitchFamily="34" charset="-122"/>
                <a:cs typeface="Noto Sans CJK KR" pitchFamily="34" charset="-120"/>
              </a:rPr>
              <a:t>Inference 시점의 입력 제약은 유지하면서, train-time PI는 representation alignment 신호로 활용한다.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94360" y="1965960"/>
            <a:ext cx="5303520" cy="3127248"/>
          </a:xfrm>
          <a:prstGeom prst="roundRect">
            <a:avLst>
              <a:gd name="adj" fmla="val 2339"/>
            </a:avLst>
          </a:prstGeom>
          <a:solidFill>
            <a:srgbClr val="D8EEF2"/>
          </a:solidFill>
          <a:ln w="10160">
            <a:solidFill>
              <a:srgbClr val="D8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2128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논문의 의미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79" y="2578608"/>
            <a:ext cx="46267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01  PI retention in MTL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joint latent space 정렬로 train-only 정보를 representation 안에 보존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323697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02  Sample efficiency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희귀 label 과 long-tail task 에서 더 적은 샘플로도 유리할 수 있음을 실험·이론으로 제시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03  Deployable student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테스트 시 PI 없이도 예측 가능한 student model 을 구축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965960"/>
            <a:ext cx="5413248" cy="3127248"/>
          </a:xfrm>
          <a:prstGeom prst="roundRect">
            <a:avLst>
              <a:gd name="adj" fmla="val 2339"/>
            </a:avLst>
          </a:prstGeom>
          <a:solidFill>
            <a:srgbClr val="EEE0B8"/>
          </a:solidFill>
          <a:ln w="10160">
            <a:solidFill>
              <a:srgbClr val="EEE0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2128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우리 발표와의 연결점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46520" y="2615184"/>
            <a:ext cx="4828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strict input contract 유지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privileged pathology information 을 representation 수준에서만 반영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auxiliary oracle / alignment 설계의 이론적 배경 제공</a:t>
            </a:r>
            <a:endParaRPr lang="en-US" sz="1160" dirty="0"/>
          </a:p>
          <a:p>
            <a:pPr marL="0" indent="0" algn="l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• long-tail / 희소 질환 문제에서 특히 의미 있는 접근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446520" y="4279392"/>
            <a:ext cx="468172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4462272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0E5960"/>
                </a:solidFill>
                <a:ea typeface="Noto Sans CJK KR" pitchFamily="34" charset="-122"/>
                <a:cs typeface="Noto Sans CJK KR" pitchFamily="34" charset="-120"/>
              </a:rPr>
              <a:t>한 줄 요약 | “Train-time only information은 입력이 아니라, 표현 공간의 정렬 신호로 활용한다.”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594360" y="5394960"/>
            <a:ext cx="10991088" cy="512064"/>
          </a:xfrm>
          <a:prstGeom prst="roundRect">
            <a:avLst>
              <a:gd name="adj" fmla="val 14286"/>
            </a:avLst>
          </a:prstGeom>
          <a:solidFill>
            <a:srgbClr val="E2EEE3"/>
          </a:solidFill>
          <a:ln w="10160">
            <a:solidFill>
              <a:srgbClr val="E2E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559552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03A43"/>
                </a:solidFill>
                <a:ea typeface="Noto Sans CJK KR" pitchFamily="34" charset="-122"/>
                <a:cs typeface="Noto Sans CJK KR" pitchFamily="34" charset="-120"/>
              </a:rPr>
              <a:t>이 선행연구는 현재 발표의 “strict inference + train-time privileged signal” 설계 원칙과 직접 맞닿아 있다.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0652760" cy="0"/>
          </a:xfrm>
          <a:prstGeom prst="line">
            <a:avLst/>
          </a:prstGeom>
          <a:noFill/>
          <a:ln w="12700">
            <a:solidFill>
              <a:srgbClr val="C8D8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Strict Multimodal · 연구방법 발표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7A8AC"/>
                </a:solidFill>
                <a:ea typeface="Noto Sans CJK KR" pitchFamily="34" charset="-122"/>
                <a:cs typeface="Noto Sans CJK KR" pitchFamily="34" charset="-120"/>
              </a:rPr>
              <a:t>25/25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90D7BD-E5CC-BE72-EB51-2BCAFB4E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12BA3F-C793-2721-FE35-0706FFB3631D}"/>
              </a:ext>
            </a:extLst>
          </p:cNvPr>
          <p:cNvSpPr/>
          <p:nvPr/>
        </p:nvSpPr>
        <p:spPr>
          <a:xfrm>
            <a:off x="502920" y="310896"/>
            <a:ext cx="9246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Appendix | </a:t>
            </a:r>
            <a:r>
              <a:rPr lang="en-US" altLang="ko-KR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</a:rPr>
              <a:t>Learning Using Privileged Information: Similarity Control and Knowledge Transfer</a:t>
            </a:r>
            <a:endParaRPr lang="en-US" sz="2600" b="1" dirty="0">
              <a:solidFill>
                <a:srgbClr val="083C45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783033-4927-F57B-525F-AE56569FF4C6}"/>
              </a:ext>
            </a:extLst>
          </p:cNvPr>
          <p:cNvSpPr/>
          <p:nvPr/>
        </p:nvSpPr>
        <p:spPr>
          <a:xfrm>
            <a:off x="502920" y="115857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배경, patient-level 설계, spatial context 사용의 출발점이 되는 데이터셋 문헌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05922C-ADD7-E439-8930-C1CA9CF50F3B}"/>
              </a:ext>
            </a:extLst>
          </p:cNvPr>
          <p:cNvSpPr/>
          <p:nvPr/>
        </p:nvSpPr>
        <p:spPr>
          <a:xfrm>
            <a:off x="10424160" y="338328"/>
            <a:ext cx="1005840" cy="256032"/>
          </a:xfrm>
          <a:prstGeom prst="roundRect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44D071-68F5-F7EA-D33C-EBA202C0A34F}"/>
              </a:ext>
            </a:extLst>
          </p:cNvPr>
          <p:cNvSpPr/>
          <p:nvPr/>
        </p:nvSpPr>
        <p:spPr>
          <a:xfrm>
            <a:off x="749808" y="1681308"/>
            <a:ext cx="393192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Kurtansky et al.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SLICE-3D dataset: 400,000 skin lesion image crops extracted from 3D TBP for skin cancer detection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Scientific Data (2024)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문헌이 받쳐주는 것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왜 3D-TBP가 실제 triage 환경과 가까운가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왜 patient-level 설계와 class imbalance 대응이 중요한가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왜 위치·크기·해부학 맥락을 spatial proxy로 쓸 수 있는가</a:t>
            </a:r>
            <a:endParaRPr lang="en-US" sz="1600" dirty="0"/>
          </a:p>
        </p:txBody>
      </p:sp>
      <p:pic>
        <p:nvPicPr>
          <p:cNvPr id="6" name="Image 0" descr="/mnt/data/assets_fig2_slice3d_workflow.png">
            <a:extLst>
              <a:ext uri="{FF2B5EF4-FFF2-40B4-BE49-F238E27FC236}">
                <a16:creationId xmlns:a16="http://schemas.microsoft.com/office/drawing/2014/main" id="{AC21738B-7A8B-E16C-FDE2-C50814F2C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986" y="1508760"/>
            <a:ext cx="2852348" cy="452628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F0D8ED3D-482E-F042-7642-574573A2A6C1}"/>
              </a:ext>
            </a:extLst>
          </p:cNvPr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36F27D0-257D-A4A0-FDC8-1A3CAEA21166}"/>
              </a:ext>
            </a:extLst>
          </p:cNvPr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8DF655F-3C64-6C13-33B6-624D8AB00C4F}"/>
              </a:ext>
            </a:extLst>
          </p:cNvPr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21/25</a:t>
            </a:r>
            <a:endParaRPr lang="en-US" sz="9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03D5FBC-3C21-6542-E911-CCDD12E3A7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00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FT-Transformer를 tabular branch의 기준 모델로 두는 이유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전처리와 Phase 3 tabular encoder 설계의 이론적 기준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24160" y="338328"/>
            <a:ext cx="1005840" cy="256032"/>
          </a:xfrm>
          <a:prstGeom prst="roundRect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43584"/>
            <a:ext cx="3886200" cy="429768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Gorishniy et al.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Revisiting Deep Learning Models for Tabular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NeurIPS (2021)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강한 tabular baseline의 필요성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Transformer adaptation(FT-Transformer)이 다양한 tabular 문제에서 강력함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GBDT와 DL 사이에는 여전히 no universally superior solution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4920" y="1828800"/>
            <a:ext cx="182880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numeric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74920" y="2971800"/>
            <a:ext cx="1828800" cy="749808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categorical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40880" y="2212848"/>
            <a:ext cx="43891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40880" y="3355848"/>
            <a:ext cx="43891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635240" y="2331720"/>
            <a:ext cx="2057400" cy="1188720"/>
          </a:xfrm>
          <a:prstGeom prst="roundRect">
            <a:avLst/>
          </a:prstGeom>
          <a:solidFill>
            <a:srgbClr val="E8EEF1"/>
          </a:solidFill>
          <a:ln w="13970">
            <a:solidFill>
              <a:srgbClr val="E8EEF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tokenizer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Transformer blocks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29800" y="2926080"/>
            <a:ext cx="438912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378440" y="2560320"/>
            <a:ext cx="1051560" cy="749808"/>
          </a:xfrm>
          <a:prstGeom prst="roundRect">
            <a:avLst/>
          </a:prstGeom>
          <a:solidFill>
            <a:srgbClr val="083C45"/>
          </a:solidFill>
          <a:ln w="13970">
            <a:solidFill>
              <a:srgbClr val="083C4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z_tab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74920" y="4389120"/>
            <a:ext cx="6373368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540" tIns="2540" rIns="2540" bIns="254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포인트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strict_main_input(51)을 ad-hoc tabular MLP에 넣지 않고, 결측 처리와 feature tokenization을 명시적으로 다루는 FT-Transformer branch로 구조화한다.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Image-Tabular multimodal fusion 근거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cross-attention base model을 정당화하는 문헌 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24160" y="338328"/>
            <a:ext cx="1005840" cy="256032"/>
          </a:xfrm>
          <a:prstGeom prst="roundRect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43584"/>
            <a:ext cx="4754880" cy="205740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(ECCV 2024)</a:t>
            </a: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Tabular-Image Pre-training for Multimodal Classification with Incomplete Data</a:t>
            </a:r>
            <a:endParaRPr lang="en-US" sz="1570" dirty="0"/>
          </a:p>
          <a:p>
            <a:pPr marL="0" indent="0" algn="l">
              <a:buNone/>
            </a:pP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문헌이 주는 근거</a:t>
            </a: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heterogeneous / incomplete multimodal setting을 다룬다</a:t>
            </a: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image-tabular interaction module의 필요성을 강조한다</a:t>
            </a:r>
            <a:endParaRPr lang="en-US" sz="1570" dirty="0"/>
          </a:p>
        </p:txBody>
      </p:sp>
      <p:sp>
        <p:nvSpPr>
          <p:cNvPr id="6" name="Text 4"/>
          <p:cNvSpPr/>
          <p:nvPr/>
        </p:nvSpPr>
        <p:spPr>
          <a:xfrm>
            <a:off x="749808" y="3749040"/>
            <a:ext cx="4754880" cy="205740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Tran-Van &amp; Le (2025)</a:t>
            </a: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multimodal skin lesion classification through cross-attention fusion</a:t>
            </a:r>
            <a:endParaRPr lang="en-US" sz="1570" dirty="0"/>
          </a:p>
          <a:p>
            <a:pPr marL="0" indent="0" algn="l">
              <a:buNone/>
            </a:pP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문헌이 주는 근거</a:t>
            </a: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skin image + patient metadata 조합에서 cross-attention fusion의 타당성</a:t>
            </a:r>
            <a:endParaRPr lang="en-US" sz="1570" dirty="0"/>
          </a:p>
          <a:p>
            <a:pPr marL="0" indent="0" algn="l">
              <a:buNone/>
            </a:pPr>
            <a:r>
              <a:rPr lang="en-US" sz="157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modality-wise feature extraction + fusion + classifier의 구조적 정합성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5897880" y="1920240"/>
            <a:ext cx="182880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 tokens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97880" y="4572000"/>
            <a:ext cx="182880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tabular tokens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75320" y="3200400"/>
            <a:ext cx="2148840" cy="1325880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cross-attention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18120" y="2331720"/>
            <a:ext cx="384048" cy="100584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18120" y="4983480"/>
            <a:ext cx="38404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515600" y="3840480"/>
            <a:ext cx="38404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72800" y="3438144"/>
            <a:ext cx="822960" cy="749808"/>
          </a:xfrm>
          <a:prstGeom prst="roundRect">
            <a:avLst/>
          </a:prstGeom>
          <a:solidFill>
            <a:srgbClr val="083C45"/>
          </a:solidFill>
          <a:ln w="13970">
            <a:solidFill>
              <a:srgbClr val="083C45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F_base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LUPI / generalized distillation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4에서 privileged information을 inference input과 분리해 쓰는 이론적 배경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24160" y="338328"/>
            <a:ext cx="1005840" cy="256032"/>
          </a:xfrm>
          <a:prstGeom prst="roundRect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43584"/>
            <a:ext cx="3886200" cy="4297680"/>
          </a:xfrm>
          <a:prstGeom prst="roundRect">
            <a:avLst/>
          </a:prstGeom>
          <a:solidFill>
            <a:srgbClr val="F6D8CB"/>
          </a:solidFill>
          <a:ln w="13970">
            <a:solidFill>
              <a:srgbClr val="F6D8CB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Vapnik (2009) · Lopez-Paz et al. (ICLR 2016)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train-time privileged information은 test-time 입력과 분리될 수 있다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teacher의 추가 정보를 student가 간접적으로 흡수하도록 만들 수 있다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연구의 해석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iddx_full은 student 입력이 아니라, auxiliary oracle target 생성에만 쓰는 privileged source다.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4920" y="1828800"/>
            <a:ext cx="178308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 + X_strict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4920" y="4526280"/>
            <a:ext cx="1783080" cy="749808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privileged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iddx_full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2103120" cy="109728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teacher / oracle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semantics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04120" y="2743200"/>
            <a:ext cx="1463040" cy="1097280"/>
          </a:xfrm>
          <a:prstGeom prst="roundRect">
            <a:avLst/>
          </a:prstGeom>
          <a:solidFill>
            <a:srgbClr val="083C45"/>
          </a:solidFill>
          <a:ln w="13970">
            <a:solidFill>
              <a:srgbClr val="083C45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F_base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95160" y="2212848"/>
            <a:ext cx="384048" cy="658368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95160" y="4892040"/>
            <a:ext cx="38404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46920" y="3291840"/>
            <a:ext cx="384048" cy="0"/>
          </a:xfrm>
          <a:prstGeom prst="line">
            <a:avLst/>
          </a:prstGeom>
          <a:noFill/>
          <a:ln w="25400">
            <a:solidFill>
              <a:srgbClr val="F08B6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74920" y="5486400"/>
            <a:ext cx="649224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test-time에는 privileged input이 사라져도 된다. 남아 있어야 하는 것은 teacher가 알려준 semantic bias가 반영된 student representation이다.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| XAI와 안정성 보고의 근거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6의 CAM / SHAP / low-FPR 중심 보고를 받쳐주는 문헌 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424160" y="338328"/>
            <a:ext cx="1005840" cy="256032"/>
          </a:xfrm>
          <a:prstGeom prst="roundRect">
            <a:avLst/>
          </a:prstGeom>
          <a:solidFill>
            <a:srgbClr val="D8EEF1"/>
          </a:solidFill>
          <a:ln>
            <a:solidFill>
              <a:srgbClr val="D8EE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5C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43584"/>
            <a:ext cx="4754880" cy="2331720"/>
          </a:xfrm>
          <a:prstGeom prst="roundRect">
            <a:avLst/>
          </a:prstGeom>
          <a:solidFill>
            <a:srgbClr val="D8EEF1"/>
          </a:solidFill>
          <a:ln w="13970">
            <a:solidFill>
              <a:srgbClr val="D8EEF1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Wang et al. (Scientific Reports, 2025)</a:t>
            </a:r>
            <a:endParaRPr lang="en-US" sz="1580" dirty="0"/>
          </a:p>
          <a:p>
            <a:pPr marL="0" indent="0" algn="l">
              <a:buNone/>
            </a:pPr>
            <a:r>
              <a:rPr lang="en-US" sz="15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Explainable multimodal AI for skin lesion risk prediction via 3D imaging and clinical data</a:t>
            </a:r>
            <a:endParaRPr lang="en-US" sz="1580" dirty="0"/>
          </a:p>
          <a:p>
            <a:pPr marL="0" indent="0" algn="l">
              <a:buNone/>
            </a:pPr>
            <a:endParaRPr lang="en-US" sz="1580" dirty="0"/>
          </a:p>
          <a:p>
            <a:pPr marL="0" indent="0" algn="l">
              <a:buNone/>
            </a:pPr>
            <a:r>
              <a:rPr lang="en-US" sz="15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3D-TBP와 structured clinical data를 함께 다루며</a:t>
            </a:r>
            <a:endParaRPr lang="en-US" sz="1580" dirty="0"/>
          </a:p>
          <a:p>
            <a:pPr marL="0" indent="0" algn="l">
              <a:buNone/>
            </a:pPr>
            <a:r>
              <a:rPr lang="en-US" sz="158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SHAP + CAM 기반 해석을 전면에 둔 사례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749808" y="3886200"/>
            <a:ext cx="4754880" cy="1828800"/>
          </a:xfrm>
          <a:prstGeom prst="roundRect">
            <a:avLst/>
          </a:prstGeom>
          <a:solidFill>
            <a:srgbClr val="EFE2C7"/>
          </a:solidFill>
          <a:ln w="13970">
            <a:solidFill>
              <a:srgbClr val="EFE2C7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발표에서의 연결</a:t>
            </a:r>
            <a:endParaRPr lang="en-US" sz="1520" dirty="0"/>
          </a:p>
          <a:p>
            <a:pPr marL="0" indent="0" algn="l">
              <a:buNone/>
            </a:pPr>
            <a:r>
              <a:rPr lang="en-US" sz="15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image explanation : CAM / attention</a:t>
            </a:r>
            <a:endParaRPr lang="en-US" sz="1520" dirty="0"/>
          </a:p>
          <a:p>
            <a:pPr marL="0" indent="0" algn="l">
              <a:buNone/>
            </a:pPr>
            <a:r>
              <a:rPr lang="en-US" sz="15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tabular explanation : SHAP</a:t>
            </a:r>
            <a:endParaRPr lang="en-US" sz="1520" dirty="0"/>
          </a:p>
          <a:p>
            <a:pPr marL="0" indent="0" algn="l">
              <a:buNone/>
            </a:pPr>
            <a:r>
              <a:rPr lang="en-US" sz="1520" b="1" dirty="0">
                <a:solidFill>
                  <a:srgbClr val="083C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oracle / correction explanation : cluster alignment, gate α, ||r̂|| 분석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897880" y="1243584"/>
            <a:ext cx="548640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4DDD8"/>
            </a:solidFill>
          </a:ln>
        </p:spPr>
        <p:txBody>
          <a:bodyPr wrap="square" lIns="2794" tIns="2794" rIns="2794" bIns="279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Stability-focused reporting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희귀 malignant 탐지에서는 평균 AUC만으로 충분하지 않다.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low-FPR pAUC, fold 간 표준편차, minimum fold pAUC를 함께 보고해야 한다.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patient-level split과 fold-local fitting이 성능 숫자의 해석 가능성을 좌우한다.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마무리 메시지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“성능 숫자 하나보다 안정성과 설명 가능성이 중요하다.”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0682935" cy="0"/>
          </a:xfrm>
          <a:prstGeom prst="line">
            <a:avLst/>
          </a:prstGeom>
          <a:noFill/>
          <a:ln w="12700">
            <a:solidFill>
              <a:srgbClr val="D4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Multimodal · 연구방법 발표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384280" y="64373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7567</Words>
  <Application>Microsoft Office PowerPoint</Application>
  <PresentationFormat>와이드스크린</PresentationFormat>
  <Paragraphs>1149</Paragraphs>
  <Slides>39</Slides>
  <Notes>38</Notes>
  <HiddenSlides>7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4" baseType="lpstr">
      <vt:lpstr>Noto Sans CJK KR</vt:lpstr>
      <vt:lpstr>Malgun Gothic</vt:lpstr>
      <vt:lpstr>Arial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비대칭 임상 데이터 환경에서의 피부암 분류 연구방법</dc:title>
  <dc:subject>연구방법 발표자료</dc:subject>
  <dc:creator>OpenAI</dc:creator>
  <cp:lastModifiedBy>kim jun</cp:lastModifiedBy>
  <cp:revision>91</cp:revision>
  <cp:lastPrinted>2026-04-15T05:21:49Z</cp:lastPrinted>
  <dcterms:created xsi:type="dcterms:W3CDTF">2026-04-13T20:57:01Z</dcterms:created>
  <dcterms:modified xsi:type="dcterms:W3CDTF">2026-04-16T09:25:08Z</dcterms:modified>
</cp:coreProperties>
</file>